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020"/>
        </a:solidFill>
      </p:bgPr>
    </p:bg>
    <p:spTree>
      <p:nvGrpSpPr>
        <p:cNvPr id="1" name=""/>
        <p:cNvGrpSpPr/>
        <p:nvPr/>
      </p:nvGrpSpPr>
      <p:grpSpPr>
        <a:xfrm>
          <a:off x="0" y="0"/>
          <a:ext cx="0" cy="0"/>
          <a:chOff x="0" y="0"/>
          <a:chExt cx="0" cy="0"/>
        </a:xfrm>
      </p:grpSpPr>
      <p:sp>
        <p:nvSpPr>
          <p:cNvPr id="2" name="Shape 0"/>
          <p:cNvSpPr/>
          <p:nvPr/>
        </p:nvSpPr>
        <p:spPr>
          <a:xfrm>
            <a:off x="-2011680" y="4480560"/>
            <a:ext cx="5943600" cy="4754880"/>
          </a:xfrm>
          <a:prstGeom prst="ellipse">
            <a:avLst/>
          </a:prstGeom>
          <a:solidFill>
            <a:srgbClr val="17473E">
              <a:alpha val="65000"/>
            </a:srgbClr>
          </a:solidFill>
          <a:ln/>
        </p:spPr>
      </p:sp>
      <p:sp>
        <p:nvSpPr>
          <p:cNvPr id="3" name="Shape 1"/>
          <p:cNvSpPr/>
          <p:nvPr/>
        </p:nvSpPr>
        <p:spPr>
          <a:xfrm>
            <a:off x="9509760" y="-2377440"/>
            <a:ext cx="5303520" cy="4937760"/>
          </a:xfrm>
          <a:prstGeom prst="ellipse">
            <a:avLst/>
          </a:prstGeom>
          <a:solidFill>
            <a:srgbClr val="35275D">
              <a:alpha val="70000"/>
            </a:srgbClr>
          </a:solidFill>
          <a:ln/>
        </p:spPr>
      </p:sp>
      <p:sp>
        <p:nvSpPr>
          <p:cNvPr id="4" name="Shape 2"/>
          <p:cNvSpPr/>
          <p:nvPr/>
        </p:nvSpPr>
        <p:spPr>
          <a:xfrm>
            <a:off x="502920" y="384048"/>
            <a:ext cx="2171700" cy="310896"/>
          </a:xfrm>
          <a:prstGeom prst="roundRect">
            <a:avLst>
              <a:gd name="adj" fmla="val 50000"/>
            </a:avLst>
          </a:prstGeom>
          <a:solidFill>
            <a:srgbClr val="35E7C3"/>
          </a:solidFill>
          <a:ln/>
        </p:spPr>
      </p:sp>
      <p:sp>
        <p:nvSpPr>
          <p:cNvPr id="5" name="Text 3"/>
          <p:cNvSpPr/>
          <p:nvPr/>
        </p:nvSpPr>
        <p:spPr>
          <a:xfrm>
            <a:off x="502920" y="384048"/>
            <a:ext cx="2171700" cy="310896"/>
          </a:xfrm>
          <a:prstGeom prst="rect">
            <a:avLst/>
          </a:prstGeom>
          <a:noFill/>
          <a:ln/>
        </p:spPr>
        <p:txBody>
          <a:bodyPr wrap="none" lIns="0" tIns="0" rIns="0" bIns="0" rtlCol="0" anchor="ctr"/>
          <a:lstStyle/>
          <a:p>
            <a:pPr algn="ctr" indent="0" marL="0">
              <a:buNone/>
            </a:pPr>
            <a:r>
              <a:rPr lang="en-US" sz="1050" b="1" spc="100" kern="0" dirty="0">
                <a:solidFill>
                  <a:srgbClr val="0A1020"/>
                </a:solidFill>
                <a:latin typeface="Arial" pitchFamily="34" charset="0"/>
                <a:ea typeface="Arial" pitchFamily="34" charset="-122"/>
                <a:cs typeface="Arial" pitchFamily="34" charset="-120"/>
              </a:rPr>
              <a:t>MODEL DELIVERABLE</a:t>
            </a:r>
            <a:endParaRPr lang="en-US" sz="1050" dirty="0"/>
          </a:p>
        </p:txBody>
      </p:sp>
      <p:sp>
        <p:nvSpPr>
          <p:cNvPr id="6" name="Text 4"/>
          <p:cNvSpPr/>
          <p:nvPr/>
        </p:nvSpPr>
        <p:spPr>
          <a:xfrm>
            <a:off x="502920" y="960120"/>
            <a:ext cx="11155680" cy="868680"/>
          </a:xfrm>
          <a:prstGeom prst="rect">
            <a:avLst/>
          </a:prstGeom>
          <a:noFill/>
          <a:ln/>
        </p:spPr>
        <p:txBody>
          <a:bodyPr wrap="square" lIns="0" tIns="0" rIns="0" bIns="0" rtlCol="0" anchor="ctr"/>
          <a:lstStyle/>
          <a:p>
            <a:pPr indent="0" marL="0">
              <a:buNone/>
            </a:pPr>
            <a:r>
              <a:rPr lang="en-US" sz="5400" b="1" dirty="0">
                <a:solidFill>
                  <a:srgbClr val="EAF2FF"/>
                </a:solidFill>
                <a:latin typeface="Arial" pitchFamily="34" charset="0"/>
                <a:ea typeface="Arial" pitchFamily="34" charset="-122"/>
                <a:cs typeface="Arial" pitchFamily="34" charset="-120"/>
              </a:rPr>
              <a:t>VC Scout</a:t>
            </a:r>
            <a:endParaRPr lang="en-US" sz="5400" dirty="0"/>
          </a:p>
        </p:txBody>
      </p:sp>
      <p:sp>
        <p:nvSpPr>
          <p:cNvPr id="7" name="Text 5"/>
          <p:cNvSpPr/>
          <p:nvPr/>
        </p:nvSpPr>
        <p:spPr>
          <a:xfrm>
            <a:off x="502920" y="1828800"/>
            <a:ext cx="11155680" cy="457200"/>
          </a:xfrm>
          <a:prstGeom prst="rect">
            <a:avLst/>
          </a:prstGeom>
          <a:noFill/>
          <a:ln/>
        </p:spPr>
        <p:txBody>
          <a:bodyPr wrap="square" lIns="0" tIns="0" rIns="0" bIns="0" rtlCol="0" anchor="ctr"/>
          <a:lstStyle/>
          <a:p>
            <a:pPr indent="0" marL="0">
              <a:buNone/>
            </a:pPr>
            <a:r>
              <a:rPr lang="en-US" sz="2200" b="1" dirty="0">
                <a:solidFill>
                  <a:srgbClr val="5EA1FF"/>
                </a:solidFill>
                <a:latin typeface="Arial" pitchFamily="34" charset="0"/>
                <a:ea typeface="Arial" pitchFamily="34" charset="-122"/>
                <a:cs typeface="Arial" pitchFamily="34" charset="-120"/>
              </a:rPr>
              <a:t>Model Definition and Initial Results</a:t>
            </a:r>
            <a:endParaRPr lang="en-US" sz="2200" dirty="0"/>
          </a:p>
        </p:txBody>
      </p:sp>
      <p:sp>
        <p:nvSpPr>
          <p:cNvPr id="8" name="Text 6"/>
          <p:cNvSpPr/>
          <p:nvPr/>
        </p:nvSpPr>
        <p:spPr>
          <a:xfrm>
            <a:off x="502920" y="2304288"/>
            <a:ext cx="11155680" cy="320040"/>
          </a:xfrm>
          <a:prstGeom prst="rect">
            <a:avLst/>
          </a:prstGeom>
          <a:noFill/>
          <a:ln/>
        </p:spPr>
        <p:txBody>
          <a:bodyPr wrap="square" lIns="0" tIns="0" rIns="0" bIns="0" rtlCol="0" anchor="ctr"/>
          <a:lstStyle/>
          <a:p>
            <a:pPr indent="0" marL="0">
              <a:buNone/>
            </a:pPr>
            <a:r>
              <a:rPr lang="en-US" sz="1300" dirty="0">
                <a:solidFill>
                  <a:srgbClr val="9AA8C7"/>
                </a:solidFill>
                <a:latin typeface="Arial" pitchFamily="34" charset="0"/>
                <a:ea typeface="Arial" pitchFamily="34" charset="-122"/>
                <a:cs typeface="Arial" pitchFamily="34" charset="-120"/>
              </a:rPr>
              <a:t>Startup Growth and Investment  |  Unicorn Companies Dataset</a:t>
            </a:r>
            <a:endParaRPr lang="en-US" sz="1300" dirty="0"/>
          </a:p>
        </p:txBody>
      </p:sp>
      <p:sp>
        <p:nvSpPr>
          <p:cNvPr id="9" name="Shape 7"/>
          <p:cNvSpPr/>
          <p:nvPr/>
        </p:nvSpPr>
        <p:spPr>
          <a:xfrm>
            <a:off x="502920" y="3063240"/>
            <a:ext cx="2084832" cy="1170432"/>
          </a:xfrm>
          <a:prstGeom prst="roundRect">
            <a:avLst>
              <a:gd name="adj" fmla="val 7031"/>
            </a:avLst>
          </a:prstGeom>
          <a:solidFill>
            <a:srgbClr val="16203A"/>
          </a:solidFill>
          <a:ln w="12700">
            <a:solidFill>
              <a:srgbClr val="26395E"/>
            </a:solidFill>
            <a:prstDash val="solid"/>
          </a:ln>
        </p:spPr>
      </p:sp>
      <p:sp>
        <p:nvSpPr>
          <p:cNvPr id="10" name="Text 8"/>
          <p:cNvSpPr/>
          <p:nvPr/>
        </p:nvSpPr>
        <p:spPr>
          <a:xfrm>
            <a:off x="649224" y="3200400"/>
            <a:ext cx="1792224" cy="502920"/>
          </a:xfrm>
          <a:prstGeom prst="rect">
            <a:avLst/>
          </a:prstGeom>
          <a:noFill/>
          <a:ln/>
        </p:spPr>
        <p:txBody>
          <a:bodyPr wrap="square" lIns="0" tIns="0" rIns="0" bIns="0" rtlCol="0" anchor="ctr"/>
          <a:lstStyle/>
          <a:p>
            <a:pPr indent="0" marL="0">
              <a:buNone/>
            </a:pPr>
            <a:r>
              <a:rPr lang="en-US" sz="2600" b="1" dirty="0">
                <a:solidFill>
                  <a:srgbClr val="35E7C3"/>
                </a:solidFill>
                <a:latin typeface="Arial" pitchFamily="34" charset="0"/>
                <a:ea typeface="Arial" pitchFamily="34" charset="-122"/>
                <a:cs typeface="Arial" pitchFamily="34" charset="-120"/>
              </a:rPr>
              <a:t>1,060</a:t>
            </a:r>
            <a:endParaRPr lang="en-US" sz="2600" dirty="0"/>
          </a:p>
        </p:txBody>
      </p:sp>
      <p:sp>
        <p:nvSpPr>
          <p:cNvPr id="11" name="Text 9"/>
          <p:cNvSpPr/>
          <p:nvPr/>
        </p:nvSpPr>
        <p:spPr>
          <a:xfrm>
            <a:off x="649224" y="3730752"/>
            <a:ext cx="1792224" cy="365760"/>
          </a:xfrm>
          <a:prstGeom prst="rect">
            <a:avLst/>
          </a:prstGeom>
          <a:noFill/>
          <a:ln/>
        </p:spPr>
        <p:txBody>
          <a:bodyPr wrap="square" lIns="0" tIns="0" rIns="0" bIns="0" rtlCol="0" anchor="ctr"/>
          <a:lstStyle/>
          <a:p>
            <a:pPr indent="0" marL="0">
              <a:buNone/>
            </a:pPr>
            <a:r>
              <a:rPr lang="en-US" sz="1050" dirty="0">
                <a:solidFill>
                  <a:srgbClr val="9AA8C7"/>
                </a:solidFill>
                <a:latin typeface="Arial" pitchFamily="34" charset="0"/>
                <a:ea typeface="Arial" pitchFamily="34" charset="-122"/>
                <a:cs typeface="Arial" pitchFamily="34" charset="-120"/>
              </a:rPr>
              <a:t>Companies modeled</a:t>
            </a:r>
            <a:endParaRPr lang="en-US" sz="1050" dirty="0"/>
          </a:p>
        </p:txBody>
      </p:sp>
      <p:sp>
        <p:nvSpPr>
          <p:cNvPr id="12" name="Shape 10"/>
          <p:cNvSpPr/>
          <p:nvPr/>
        </p:nvSpPr>
        <p:spPr>
          <a:xfrm>
            <a:off x="2743200" y="3063240"/>
            <a:ext cx="2084832" cy="1170432"/>
          </a:xfrm>
          <a:prstGeom prst="roundRect">
            <a:avLst>
              <a:gd name="adj" fmla="val 7031"/>
            </a:avLst>
          </a:prstGeom>
          <a:solidFill>
            <a:srgbClr val="16203A"/>
          </a:solidFill>
          <a:ln w="12700">
            <a:solidFill>
              <a:srgbClr val="26395E"/>
            </a:solidFill>
            <a:prstDash val="solid"/>
          </a:ln>
        </p:spPr>
      </p:sp>
      <p:sp>
        <p:nvSpPr>
          <p:cNvPr id="13" name="Text 11"/>
          <p:cNvSpPr/>
          <p:nvPr/>
        </p:nvSpPr>
        <p:spPr>
          <a:xfrm>
            <a:off x="2889504" y="3200400"/>
            <a:ext cx="1792224" cy="502920"/>
          </a:xfrm>
          <a:prstGeom prst="rect">
            <a:avLst/>
          </a:prstGeom>
          <a:noFill/>
          <a:ln/>
        </p:spPr>
        <p:txBody>
          <a:bodyPr wrap="square" lIns="0" tIns="0" rIns="0" bIns="0" rtlCol="0" anchor="ctr"/>
          <a:lstStyle/>
          <a:p>
            <a:pPr indent="0" marL="0">
              <a:buNone/>
            </a:pPr>
            <a:r>
              <a:rPr lang="en-US" sz="2600" b="1" dirty="0">
                <a:solidFill>
                  <a:srgbClr val="5EA1FF"/>
                </a:solidFill>
                <a:latin typeface="Arial" pitchFamily="34" charset="0"/>
                <a:ea typeface="Arial" pitchFamily="34" charset="-122"/>
                <a:cs typeface="Arial" pitchFamily="34" charset="-120"/>
              </a:rPr>
              <a:t>7</a:t>
            </a:r>
            <a:endParaRPr lang="en-US" sz="2600" dirty="0"/>
          </a:p>
        </p:txBody>
      </p:sp>
      <p:sp>
        <p:nvSpPr>
          <p:cNvPr id="14" name="Text 12"/>
          <p:cNvSpPr/>
          <p:nvPr/>
        </p:nvSpPr>
        <p:spPr>
          <a:xfrm>
            <a:off x="2889504" y="3730752"/>
            <a:ext cx="1792224" cy="365760"/>
          </a:xfrm>
          <a:prstGeom prst="rect">
            <a:avLst/>
          </a:prstGeom>
          <a:noFill/>
          <a:ln/>
        </p:spPr>
        <p:txBody>
          <a:bodyPr wrap="square" lIns="0" tIns="0" rIns="0" bIns="0" rtlCol="0" anchor="ctr"/>
          <a:lstStyle/>
          <a:p>
            <a:pPr indent="0" marL="0">
              <a:buNone/>
            </a:pPr>
            <a:r>
              <a:rPr lang="en-US" sz="1050" dirty="0">
                <a:solidFill>
                  <a:srgbClr val="9AA8C7"/>
                </a:solidFill>
                <a:latin typeface="Arial" pitchFamily="34" charset="0"/>
                <a:ea typeface="Arial" pitchFamily="34" charset="-122"/>
                <a:cs typeface="Arial" pitchFamily="34" charset="-120"/>
              </a:rPr>
              <a:t>Models compared</a:t>
            </a:r>
            <a:endParaRPr lang="en-US" sz="1050" dirty="0"/>
          </a:p>
        </p:txBody>
      </p:sp>
      <p:sp>
        <p:nvSpPr>
          <p:cNvPr id="15" name="Shape 13"/>
          <p:cNvSpPr/>
          <p:nvPr/>
        </p:nvSpPr>
        <p:spPr>
          <a:xfrm>
            <a:off x="4983480" y="3063240"/>
            <a:ext cx="2084832" cy="1170432"/>
          </a:xfrm>
          <a:prstGeom prst="roundRect">
            <a:avLst>
              <a:gd name="adj" fmla="val 7031"/>
            </a:avLst>
          </a:prstGeom>
          <a:solidFill>
            <a:srgbClr val="16203A"/>
          </a:solidFill>
          <a:ln w="12700">
            <a:solidFill>
              <a:srgbClr val="26395E"/>
            </a:solidFill>
            <a:prstDash val="solid"/>
          </a:ln>
        </p:spPr>
      </p:sp>
      <p:sp>
        <p:nvSpPr>
          <p:cNvPr id="16" name="Text 14"/>
          <p:cNvSpPr/>
          <p:nvPr/>
        </p:nvSpPr>
        <p:spPr>
          <a:xfrm>
            <a:off x="5129784" y="3200400"/>
            <a:ext cx="1792224" cy="502920"/>
          </a:xfrm>
          <a:prstGeom prst="rect">
            <a:avLst/>
          </a:prstGeom>
          <a:noFill/>
          <a:ln/>
        </p:spPr>
        <p:txBody>
          <a:bodyPr wrap="square" lIns="0" tIns="0" rIns="0" bIns="0" rtlCol="0" anchor="ctr"/>
          <a:lstStyle/>
          <a:p>
            <a:pPr indent="0" marL="0">
              <a:buNone/>
            </a:pPr>
            <a:r>
              <a:rPr lang="en-US" sz="2600" b="1" dirty="0">
                <a:solidFill>
                  <a:srgbClr val="9C7BFF"/>
                </a:solidFill>
                <a:latin typeface="Arial" pitchFamily="34" charset="0"/>
                <a:ea typeface="Arial" pitchFamily="34" charset="-122"/>
                <a:cs typeface="Arial" pitchFamily="34" charset="-120"/>
              </a:rPr>
              <a:t>80 / 20</a:t>
            </a:r>
            <a:endParaRPr lang="en-US" sz="2600" dirty="0"/>
          </a:p>
        </p:txBody>
      </p:sp>
      <p:sp>
        <p:nvSpPr>
          <p:cNvPr id="17" name="Text 15"/>
          <p:cNvSpPr/>
          <p:nvPr/>
        </p:nvSpPr>
        <p:spPr>
          <a:xfrm>
            <a:off x="5129784" y="3730752"/>
            <a:ext cx="1792224" cy="365760"/>
          </a:xfrm>
          <a:prstGeom prst="rect">
            <a:avLst/>
          </a:prstGeom>
          <a:noFill/>
          <a:ln/>
        </p:spPr>
        <p:txBody>
          <a:bodyPr wrap="square" lIns="0" tIns="0" rIns="0" bIns="0" rtlCol="0" anchor="ctr"/>
          <a:lstStyle/>
          <a:p>
            <a:pPr indent="0" marL="0">
              <a:buNone/>
            </a:pPr>
            <a:r>
              <a:rPr lang="en-US" sz="1050" dirty="0">
                <a:solidFill>
                  <a:srgbClr val="9AA8C7"/>
                </a:solidFill>
                <a:latin typeface="Arial" pitchFamily="34" charset="0"/>
                <a:ea typeface="Arial" pitchFamily="34" charset="-122"/>
                <a:cs typeface="Arial" pitchFamily="34" charset="-120"/>
              </a:rPr>
              <a:t>Train / test split</a:t>
            </a:r>
            <a:endParaRPr lang="en-US" sz="1050" dirty="0"/>
          </a:p>
        </p:txBody>
      </p:sp>
      <p:sp>
        <p:nvSpPr>
          <p:cNvPr id="18" name="Shape 16"/>
          <p:cNvSpPr/>
          <p:nvPr/>
        </p:nvSpPr>
        <p:spPr>
          <a:xfrm>
            <a:off x="7223760" y="3063240"/>
            <a:ext cx="2084832" cy="1170432"/>
          </a:xfrm>
          <a:prstGeom prst="roundRect">
            <a:avLst>
              <a:gd name="adj" fmla="val 7031"/>
            </a:avLst>
          </a:prstGeom>
          <a:solidFill>
            <a:srgbClr val="16203A"/>
          </a:solidFill>
          <a:ln w="12700">
            <a:solidFill>
              <a:srgbClr val="26395E"/>
            </a:solidFill>
            <a:prstDash val="solid"/>
          </a:ln>
        </p:spPr>
      </p:sp>
      <p:sp>
        <p:nvSpPr>
          <p:cNvPr id="19" name="Text 17"/>
          <p:cNvSpPr/>
          <p:nvPr/>
        </p:nvSpPr>
        <p:spPr>
          <a:xfrm>
            <a:off x="7370064" y="3200400"/>
            <a:ext cx="1792224" cy="502920"/>
          </a:xfrm>
          <a:prstGeom prst="rect">
            <a:avLst/>
          </a:prstGeom>
          <a:noFill/>
          <a:ln/>
        </p:spPr>
        <p:txBody>
          <a:bodyPr wrap="square" lIns="0" tIns="0" rIns="0" bIns="0" rtlCol="0" anchor="ctr"/>
          <a:lstStyle/>
          <a:p>
            <a:pPr indent="0" marL="0">
              <a:buNone/>
            </a:pPr>
            <a:r>
              <a:rPr lang="en-US" sz="2600" b="1" dirty="0">
                <a:solidFill>
                  <a:srgbClr val="FFBE55"/>
                </a:solidFill>
                <a:latin typeface="Arial" pitchFamily="34" charset="0"/>
                <a:ea typeface="Arial" pitchFamily="34" charset="-122"/>
                <a:cs typeface="Arial" pitchFamily="34" charset="-120"/>
              </a:rPr>
              <a:t>5-fold</a:t>
            </a:r>
            <a:endParaRPr lang="en-US" sz="2600" dirty="0"/>
          </a:p>
        </p:txBody>
      </p:sp>
      <p:sp>
        <p:nvSpPr>
          <p:cNvPr id="20" name="Text 18"/>
          <p:cNvSpPr/>
          <p:nvPr/>
        </p:nvSpPr>
        <p:spPr>
          <a:xfrm>
            <a:off x="7370064" y="3730752"/>
            <a:ext cx="1792224" cy="365760"/>
          </a:xfrm>
          <a:prstGeom prst="rect">
            <a:avLst/>
          </a:prstGeom>
          <a:noFill/>
          <a:ln/>
        </p:spPr>
        <p:txBody>
          <a:bodyPr wrap="square" lIns="0" tIns="0" rIns="0" bIns="0" rtlCol="0" anchor="ctr"/>
          <a:lstStyle/>
          <a:p>
            <a:pPr indent="0" marL="0">
              <a:buNone/>
            </a:pPr>
            <a:r>
              <a:rPr lang="en-US" sz="1050" dirty="0">
                <a:solidFill>
                  <a:srgbClr val="9AA8C7"/>
                </a:solidFill>
                <a:latin typeface="Arial" pitchFamily="34" charset="0"/>
                <a:ea typeface="Arial" pitchFamily="34" charset="-122"/>
                <a:cs typeface="Arial" pitchFamily="34" charset="-120"/>
              </a:rPr>
              <a:t>Cross validation</a:t>
            </a:r>
            <a:endParaRPr lang="en-US" sz="1050" dirty="0"/>
          </a:p>
        </p:txBody>
      </p:sp>
      <p:sp>
        <p:nvSpPr>
          <p:cNvPr id="21" name="Shape 19"/>
          <p:cNvSpPr/>
          <p:nvPr/>
        </p:nvSpPr>
        <p:spPr>
          <a:xfrm>
            <a:off x="9464040" y="3063240"/>
            <a:ext cx="2084832" cy="1170432"/>
          </a:xfrm>
          <a:prstGeom prst="roundRect">
            <a:avLst>
              <a:gd name="adj" fmla="val 7031"/>
            </a:avLst>
          </a:prstGeom>
          <a:solidFill>
            <a:srgbClr val="16203A"/>
          </a:solidFill>
          <a:ln w="12700">
            <a:solidFill>
              <a:srgbClr val="26395E"/>
            </a:solidFill>
            <a:prstDash val="solid"/>
          </a:ln>
        </p:spPr>
      </p:sp>
      <p:sp>
        <p:nvSpPr>
          <p:cNvPr id="22" name="Text 20"/>
          <p:cNvSpPr/>
          <p:nvPr/>
        </p:nvSpPr>
        <p:spPr>
          <a:xfrm>
            <a:off x="9610344" y="3200400"/>
            <a:ext cx="1792224" cy="502920"/>
          </a:xfrm>
          <a:prstGeom prst="rect">
            <a:avLst/>
          </a:prstGeom>
          <a:noFill/>
          <a:ln/>
        </p:spPr>
        <p:txBody>
          <a:bodyPr wrap="square" lIns="0" tIns="0" rIns="0" bIns="0" rtlCol="0" anchor="ctr"/>
          <a:lstStyle/>
          <a:p>
            <a:pPr indent="0" marL="0">
              <a:buNone/>
            </a:pPr>
            <a:r>
              <a:rPr lang="en-US" sz="2600" b="1" dirty="0">
                <a:solidFill>
                  <a:srgbClr val="FF6B7A"/>
                </a:solidFill>
                <a:latin typeface="Arial" pitchFamily="34" charset="0"/>
                <a:ea typeface="Arial" pitchFamily="34" charset="-122"/>
                <a:cs typeface="Arial" pitchFamily="34" charset="-120"/>
              </a:rPr>
              <a:t>0.51</a:t>
            </a:r>
            <a:endParaRPr lang="en-US" sz="2600" dirty="0"/>
          </a:p>
        </p:txBody>
      </p:sp>
      <p:sp>
        <p:nvSpPr>
          <p:cNvPr id="23" name="Text 21"/>
          <p:cNvSpPr/>
          <p:nvPr/>
        </p:nvSpPr>
        <p:spPr>
          <a:xfrm>
            <a:off x="9610344" y="3730752"/>
            <a:ext cx="1792224" cy="365760"/>
          </a:xfrm>
          <a:prstGeom prst="rect">
            <a:avLst/>
          </a:prstGeom>
          <a:noFill/>
          <a:ln/>
        </p:spPr>
        <p:txBody>
          <a:bodyPr wrap="square" lIns="0" tIns="0" rIns="0" bIns="0" rtlCol="0" anchor="ctr"/>
          <a:lstStyle/>
          <a:p>
            <a:pPr indent="0" marL="0">
              <a:buNone/>
            </a:pPr>
            <a:r>
              <a:rPr lang="en-US" sz="1050" dirty="0">
                <a:solidFill>
                  <a:srgbClr val="9AA8C7"/>
                </a:solidFill>
                <a:latin typeface="Arial" pitchFamily="34" charset="0"/>
                <a:ea typeface="Arial" pitchFamily="34" charset="-122"/>
                <a:cs typeface="Arial" pitchFamily="34" charset="-120"/>
              </a:rPr>
              <a:t>Held-out test R²</a:t>
            </a:r>
            <a:endParaRPr lang="en-US" sz="1050" dirty="0"/>
          </a:p>
        </p:txBody>
      </p:sp>
      <p:sp>
        <p:nvSpPr>
          <p:cNvPr id="24" name="Shape 22"/>
          <p:cNvSpPr/>
          <p:nvPr/>
        </p:nvSpPr>
        <p:spPr>
          <a:xfrm>
            <a:off x="502920" y="4617720"/>
            <a:ext cx="11183112" cy="914400"/>
          </a:xfrm>
          <a:prstGeom prst="roundRect">
            <a:avLst>
              <a:gd name="adj" fmla="val 9000"/>
            </a:avLst>
          </a:prstGeom>
          <a:solidFill>
            <a:srgbClr val="111A2E"/>
          </a:solidFill>
          <a:ln w="12700">
            <a:solidFill>
              <a:srgbClr val="26395E"/>
            </a:solidFill>
            <a:prstDash val="solid"/>
          </a:ln>
        </p:spPr>
      </p:sp>
      <p:sp>
        <p:nvSpPr>
          <p:cNvPr id="25" name="Text 23"/>
          <p:cNvSpPr/>
          <p:nvPr/>
        </p:nvSpPr>
        <p:spPr>
          <a:xfrm>
            <a:off x="777240" y="4773168"/>
            <a:ext cx="10607040" cy="320040"/>
          </a:xfrm>
          <a:prstGeom prst="rect">
            <a:avLst/>
          </a:prstGeom>
          <a:noFill/>
          <a:ln/>
        </p:spPr>
        <p:txBody>
          <a:bodyPr wrap="square" lIns="0" tIns="0" rIns="0" bIns="0" rtlCol="0" anchor="ctr"/>
          <a:lstStyle/>
          <a:p>
            <a:pPr indent="0" marL="0">
              <a:buNone/>
            </a:pPr>
            <a:r>
              <a:rPr lang="en-US" sz="1300" b="1" dirty="0">
                <a:solidFill>
                  <a:srgbClr val="EAF2FF"/>
                </a:solidFill>
                <a:latin typeface="Arial" pitchFamily="34" charset="0"/>
                <a:ea typeface="Arial" pitchFamily="34" charset="-122"/>
                <a:cs typeface="Arial" pitchFamily="34" charset="-120"/>
              </a:rPr>
              <a:t>Team 17   </a:t>
            </a:r>
            <a:pPr indent="0" marL="0">
              <a:buNone/>
            </a:pPr>
            <a:r>
              <a:rPr lang="en-US" sz="1200" dirty="0">
                <a:solidFill>
                  <a:srgbClr val="9AA8C7"/>
                </a:solidFill>
                <a:latin typeface="Arial" pitchFamily="34" charset="0"/>
                <a:ea typeface="Arial" pitchFamily="34" charset="-122"/>
                <a:cs typeface="Arial" pitchFamily="34" charset="-120"/>
              </a:rPr>
              <a:t>Mia Murphy  •  Finn Kliewer  •  Kayvon Jafarzadeh  •  Nathanael Gill  •  Om Patel</a:t>
            </a:r>
            <a:endParaRPr lang="en-US" sz="1300" dirty="0"/>
          </a:p>
        </p:txBody>
      </p:sp>
      <p:sp>
        <p:nvSpPr>
          <p:cNvPr id="26" name="Text 24"/>
          <p:cNvSpPr/>
          <p:nvPr/>
        </p:nvSpPr>
        <p:spPr>
          <a:xfrm>
            <a:off x="777240" y="5102352"/>
            <a:ext cx="10607040" cy="365760"/>
          </a:xfrm>
          <a:prstGeom prst="rect">
            <a:avLst/>
          </a:prstGeom>
          <a:noFill/>
          <a:ln/>
        </p:spPr>
        <p:txBody>
          <a:bodyPr wrap="square" lIns="0" tIns="0" rIns="0" bIns="0" rtlCol="0" anchor="ctr"/>
          <a:lstStyle/>
          <a:p>
            <a:pPr indent="0" marL="0">
              <a:buNone/>
            </a:pPr>
            <a:r>
              <a:rPr lang="en-US" sz="1100" i="1" dirty="0">
                <a:solidFill>
                  <a:srgbClr val="5EA1FF"/>
                </a:solidFill>
                <a:latin typeface="Arial" pitchFamily="34" charset="0"/>
                <a:ea typeface="Arial" pitchFamily="34" charset="-122"/>
                <a:cs typeface="Arial" pitchFamily="34" charset="-120"/>
              </a:rPr>
              <a:t>Goal: define the modeling toolkit for the deeper dive, show a working implementation on the cleaned unicorn dataset, and compare candidate models before locking the champion for the VC Scout framework.</a:t>
            </a:r>
            <a:endParaRPr lang="en-US" sz="1100" dirty="0"/>
          </a:p>
        </p:txBody>
      </p:sp>
      <p:sp>
        <p:nvSpPr>
          <p:cNvPr id="27" name="Text 25"/>
          <p:cNvSpPr/>
          <p:nvPr/>
        </p:nvSpPr>
        <p:spPr>
          <a:xfrm>
            <a:off x="502920" y="6473952"/>
            <a:ext cx="8686800" cy="274320"/>
          </a:xfrm>
          <a:prstGeom prst="rect">
            <a:avLst/>
          </a:prstGeom>
          <a:noFill/>
          <a:ln/>
        </p:spPr>
        <p:txBody>
          <a:bodyPr wrap="square" lIns="0" tIns="0" rIns="0" bIns="0" rtlCol="0" anchor="ctr"/>
          <a:lstStyle/>
          <a:p>
            <a:pPr algn="l" indent="0" marL="0">
              <a:buNone/>
            </a:pPr>
            <a:r>
              <a:rPr lang="en-US" sz="900" b="1" dirty="0">
                <a:solidFill>
                  <a:srgbClr val="EAF2FF"/>
                </a:solidFill>
                <a:latin typeface="Arial" pitchFamily="34" charset="0"/>
                <a:ea typeface="Arial" pitchFamily="34" charset="-122"/>
                <a:cs typeface="Arial" pitchFamily="34" charset="-120"/>
              </a:rPr>
              <a:t>Team 17</a:t>
            </a:r>
            <a:pPr algn="l" indent="0" marL="0">
              <a:buNone/>
            </a:pPr>
            <a:r>
              <a:rPr lang="en-US" sz="900" dirty="0">
                <a:solidFill>
                  <a:srgbClr val="9AA8C7"/>
                </a:solidFill>
                <a:latin typeface="Arial" pitchFamily="34" charset="0"/>
                <a:ea typeface="Arial" pitchFamily="34" charset="-122"/>
                <a:cs typeface="Arial" pitchFamily="34" charset="-120"/>
              </a:rPr>
              <a:t>   |   Startup Growth &amp; Investment   |   Model Definition &amp; Initial Results</a:t>
            </a:r>
            <a:endParaRPr lang="en-US" sz="900" dirty="0"/>
          </a:p>
        </p:txBody>
      </p:sp>
      <p:sp>
        <p:nvSpPr>
          <p:cNvPr id="28" name="Text 26"/>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900" dirty="0">
                <a:solidFill>
                  <a:srgbClr val="9AA8C7"/>
                </a:solidFill>
                <a:latin typeface="Arial" pitchFamily="34" charset="0"/>
                <a:ea typeface="Arial" pitchFamily="34" charset="-122"/>
                <a:cs typeface="Arial"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020"/>
        </a:solidFill>
      </p:bgPr>
    </p:bg>
    <p:spTree>
      <p:nvGrpSpPr>
        <p:cNvPr id="1" name=""/>
        <p:cNvGrpSpPr/>
        <p:nvPr/>
      </p:nvGrpSpPr>
      <p:grpSpPr>
        <a:xfrm>
          <a:off x="0" y="0"/>
          <a:ext cx="0" cy="0"/>
          <a:chOff x="0" y="0"/>
          <a:chExt cx="0" cy="0"/>
        </a:xfrm>
      </p:grpSpPr>
      <p:sp>
        <p:nvSpPr>
          <p:cNvPr id="2" name="Shape 0"/>
          <p:cNvSpPr/>
          <p:nvPr/>
        </p:nvSpPr>
        <p:spPr>
          <a:xfrm>
            <a:off x="9966960" y="4663440"/>
            <a:ext cx="4937760" cy="4206240"/>
          </a:xfrm>
          <a:prstGeom prst="ellipse">
            <a:avLst/>
          </a:prstGeom>
          <a:solidFill>
            <a:srgbClr val="133B5C">
              <a:alpha val="70000"/>
            </a:srgbClr>
          </a:solidFill>
          <a:ln/>
        </p:spPr>
      </p:sp>
      <p:sp>
        <p:nvSpPr>
          <p:cNvPr id="3" name="Shape 1"/>
          <p:cNvSpPr/>
          <p:nvPr/>
        </p:nvSpPr>
        <p:spPr>
          <a:xfrm>
            <a:off x="-2377440" y="-2194560"/>
            <a:ext cx="5120640" cy="4389120"/>
          </a:xfrm>
          <a:prstGeom prst="ellipse">
            <a:avLst/>
          </a:prstGeom>
          <a:solidFill>
            <a:srgbClr val="35275D">
              <a:alpha val="62000"/>
            </a:srgbClr>
          </a:solidFill>
          <a:ln/>
        </p:spPr>
      </p:sp>
      <p:sp>
        <p:nvSpPr>
          <p:cNvPr id="4" name="Shape 2"/>
          <p:cNvSpPr/>
          <p:nvPr/>
        </p:nvSpPr>
        <p:spPr>
          <a:xfrm>
            <a:off x="502920" y="384048"/>
            <a:ext cx="2276856" cy="310896"/>
          </a:xfrm>
          <a:prstGeom prst="roundRect">
            <a:avLst>
              <a:gd name="adj" fmla="val 50000"/>
            </a:avLst>
          </a:prstGeom>
          <a:solidFill>
            <a:srgbClr val="5EA1FF"/>
          </a:solidFill>
          <a:ln/>
        </p:spPr>
      </p:sp>
      <p:sp>
        <p:nvSpPr>
          <p:cNvPr id="5" name="Text 3"/>
          <p:cNvSpPr/>
          <p:nvPr/>
        </p:nvSpPr>
        <p:spPr>
          <a:xfrm>
            <a:off x="502920" y="384048"/>
            <a:ext cx="2276856" cy="310896"/>
          </a:xfrm>
          <a:prstGeom prst="rect">
            <a:avLst/>
          </a:prstGeom>
          <a:noFill/>
          <a:ln/>
        </p:spPr>
        <p:txBody>
          <a:bodyPr wrap="none" lIns="0" tIns="0" rIns="0" bIns="0" rtlCol="0" anchor="ctr"/>
          <a:lstStyle/>
          <a:p>
            <a:pPr algn="ctr" indent="0" marL="0">
              <a:buNone/>
            </a:pPr>
            <a:r>
              <a:rPr lang="en-US" sz="1050" b="1" spc="100" kern="0" dirty="0">
                <a:solidFill>
                  <a:srgbClr val="0A1020"/>
                </a:solidFill>
                <a:latin typeface="Arial" pitchFamily="34" charset="0"/>
                <a:ea typeface="Arial" pitchFamily="34" charset="-122"/>
                <a:cs typeface="Arial" pitchFamily="34" charset="-120"/>
              </a:rPr>
              <a:t>MODELING OBJECTIVE</a:t>
            </a:r>
            <a:endParaRPr lang="en-US" sz="1050" dirty="0"/>
          </a:p>
        </p:txBody>
      </p:sp>
      <p:sp>
        <p:nvSpPr>
          <p:cNvPr id="6" name="Text 4"/>
          <p:cNvSpPr/>
          <p:nvPr/>
        </p:nvSpPr>
        <p:spPr>
          <a:xfrm>
            <a:off x="502920" y="749808"/>
            <a:ext cx="11155680" cy="566928"/>
          </a:xfrm>
          <a:prstGeom prst="rect">
            <a:avLst/>
          </a:prstGeom>
          <a:noFill/>
          <a:ln/>
        </p:spPr>
        <p:txBody>
          <a:bodyPr wrap="square" lIns="0" tIns="0" rIns="0" bIns="0" rtlCol="0" anchor="ctr"/>
          <a:lstStyle/>
          <a:p>
            <a:pPr indent="0" marL="0">
              <a:buNone/>
            </a:pPr>
            <a:r>
              <a:rPr lang="en-US" sz="2700" b="1" dirty="0">
                <a:solidFill>
                  <a:srgbClr val="EAF2FF"/>
                </a:solidFill>
                <a:latin typeface="Arial" pitchFamily="34" charset="0"/>
                <a:ea typeface="Arial" pitchFamily="34" charset="-122"/>
                <a:cs typeface="Arial" pitchFamily="34" charset="-120"/>
              </a:rPr>
              <a:t>What we model, and which tools we use</a:t>
            </a:r>
            <a:endParaRPr lang="en-US" sz="2700" dirty="0"/>
          </a:p>
        </p:txBody>
      </p:sp>
      <p:sp>
        <p:nvSpPr>
          <p:cNvPr id="7" name="Text 5"/>
          <p:cNvSpPr/>
          <p:nvPr/>
        </p:nvSpPr>
        <p:spPr>
          <a:xfrm>
            <a:off x="502920" y="1316736"/>
            <a:ext cx="11155680" cy="310896"/>
          </a:xfrm>
          <a:prstGeom prst="rect">
            <a:avLst/>
          </a:prstGeom>
          <a:noFill/>
          <a:ln/>
        </p:spPr>
        <p:txBody>
          <a:bodyPr wrap="square" lIns="0" tIns="0" rIns="0" bIns="0" rtlCol="0" anchor="ctr"/>
          <a:lstStyle/>
          <a:p>
            <a:pPr indent="0" marL="0">
              <a:buNone/>
            </a:pPr>
            <a:r>
              <a:rPr lang="en-US" sz="1250" i="1" dirty="0">
                <a:solidFill>
                  <a:srgbClr val="9AA8C7"/>
                </a:solidFill>
                <a:latin typeface="Arial" pitchFamily="34" charset="0"/>
                <a:ea typeface="Arial" pitchFamily="34" charset="-122"/>
                <a:cs typeface="Arial" pitchFamily="34" charset="-120"/>
              </a:rPr>
              <a:t>The deeper dive moves from description to supervised prediction, framed strictly as conditional-on-unicorn pattern learning.</a:t>
            </a:r>
            <a:endParaRPr lang="en-US" sz="1250" dirty="0"/>
          </a:p>
        </p:txBody>
      </p:sp>
      <p:sp>
        <p:nvSpPr>
          <p:cNvPr id="8" name="Shape 6"/>
          <p:cNvSpPr/>
          <p:nvPr/>
        </p:nvSpPr>
        <p:spPr>
          <a:xfrm>
            <a:off x="502920" y="1828800"/>
            <a:ext cx="5486400" cy="4343400"/>
          </a:xfrm>
          <a:prstGeom prst="roundRect">
            <a:avLst>
              <a:gd name="adj" fmla="val 1895"/>
            </a:avLst>
          </a:prstGeom>
          <a:solidFill>
            <a:srgbClr val="111A2E"/>
          </a:solidFill>
          <a:ln w="12700">
            <a:solidFill>
              <a:srgbClr val="26395E"/>
            </a:solidFill>
            <a:prstDash val="solid"/>
          </a:ln>
        </p:spPr>
      </p:sp>
      <p:sp>
        <p:nvSpPr>
          <p:cNvPr id="9" name="Text 7"/>
          <p:cNvSpPr/>
          <p:nvPr/>
        </p:nvSpPr>
        <p:spPr>
          <a:xfrm>
            <a:off x="777240" y="2011680"/>
            <a:ext cx="4937760" cy="274320"/>
          </a:xfrm>
          <a:prstGeom prst="rect">
            <a:avLst/>
          </a:prstGeom>
          <a:noFill/>
          <a:ln/>
        </p:spPr>
        <p:txBody>
          <a:bodyPr wrap="square" lIns="0" tIns="0" rIns="0" bIns="0" rtlCol="0" anchor="ctr"/>
          <a:lstStyle/>
          <a:p>
            <a:pPr indent="0" marL="0">
              <a:buNone/>
            </a:pPr>
            <a:r>
              <a:rPr lang="en-US" sz="1300" b="1" dirty="0">
                <a:solidFill>
                  <a:srgbClr val="35E7C3"/>
                </a:solidFill>
                <a:latin typeface="Arial" pitchFamily="34" charset="0"/>
                <a:ea typeface="Arial" pitchFamily="34" charset="-122"/>
                <a:cs typeface="Arial" pitchFamily="34" charset="-120"/>
              </a:rPr>
              <a:t>The prediction task</a:t>
            </a:r>
            <a:endParaRPr lang="en-US" sz="1300" dirty="0"/>
          </a:p>
        </p:txBody>
      </p:sp>
      <p:sp>
        <p:nvSpPr>
          <p:cNvPr id="10" name="Text 8"/>
          <p:cNvSpPr/>
          <p:nvPr/>
        </p:nvSpPr>
        <p:spPr>
          <a:xfrm>
            <a:off x="777240" y="2359152"/>
            <a:ext cx="4937760" cy="274320"/>
          </a:xfrm>
          <a:prstGeom prst="rect">
            <a:avLst/>
          </a:prstGeom>
          <a:noFill/>
          <a:ln/>
        </p:spPr>
        <p:txBody>
          <a:bodyPr wrap="square" lIns="0" tIns="0" rIns="0" bIns="0" rtlCol="0" anchor="ctr"/>
          <a:lstStyle/>
          <a:p>
            <a:pPr indent="0" marL="0">
              <a:buNone/>
            </a:pPr>
            <a:r>
              <a:rPr lang="en-US" sz="1200" b="1" dirty="0">
                <a:solidFill>
                  <a:srgbClr val="EAF2FF"/>
                </a:solidFill>
                <a:latin typeface="Arial" pitchFamily="34" charset="0"/>
                <a:ea typeface="Arial" pitchFamily="34" charset="-122"/>
                <a:cs typeface="Arial" pitchFamily="34" charset="-120"/>
              </a:rPr>
              <a:t>Target:  </a:t>
            </a:r>
            <a:pPr indent="0" marL="0">
              <a:buNone/>
            </a:pPr>
            <a:r>
              <a:rPr lang="en-US" sz="1200" dirty="0">
                <a:solidFill>
                  <a:srgbClr val="9AA8C7"/>
                </a:solidFill>
                <a:latin typeface="Arial" pitchFamily="34" charset="0"/>
                <a:ea typeface="Arial" pitchFamily="34" charset="-122"/>
                <a:cs typeface="Arial" pitchFamily="34" charset="-120"/>
              </a:rPr>
              <a:t>ln(Valuation in $B) for each unicorn company.</a:t>
            </a:r>
            <a:endParaRPr lang="en-US" sz="1200" dirty="0"/>
          </a:p>
        </p:txBody>
      </p:sp>
      <p:sp>
        <p:nvSpPr>
          <p:cNvPr id="11" name="Text 9"/>
          <p:cNvSpPr/>
          <p:nvPr/>
        </p:nvSpPr>
        <p:spPr>
          <a:xfrm>
            <a:off x="777240" y="2724912"/>
            <a:ext cx="4937760" cy="3291840"/>
          </a:xfrm>
          <a:prstGeom prst="rect">
            <a:avLst/>
          </a:prstGeom>
          <a:noFill/>
          <a:ln/>
        </p:spPr>
        <p:txBody>
          <a:bodyPr wrap="square" lIns="0" tIns="0" rIns="0" bIns="0" rtlCol="0" anchor="t"/>
          <a:lstStyle/>
          <a:p>
            <a:pPr algn="l" marL="127000" indent="-127000">
              <a:spcAft>
                <a:spcPts val="800"/>
              </a:spcAft>
              <a:buSzPct val="100000"/>
              <a:buChar char="•"/>
            </a:pPr>
            <a:r>
              <a:rPr lang="en-US" sz="1150" dirty="0">
                <a:solidFill>
                  <a:srgbClr val="9AA8C7"/>
                </a:solidFill>
                <a:latin typeface="Arial" pitchFamily="34" charset="0"/>
                <a:ea typeface="Arial" pitchFamily="34" charset="-122"/>
                <a:cs typeface="Arial" pitchFamily="34" charset="-120"/>
              </a:rPr>
              <a:t>Regression, not classification: every row is already a unicorn, so "success vs failure" cannot be learned from this data. We instead predict the valuation scale a unicorn reaches.</a:t>
            </a:r>
            <a:endParaRPr lang="en-US" sz="1150" dirty="0"/>
          </a:p>
          <a:p>
            <a:pPr algn="l" marL="127000" indent="-127000">
              <a:spcAft>
                <a:spcPts val="800"/>
              </a:spcAft>
              <a:buSzPct val="100000"/>
              <a:buChar char="•"/>
            </a:pPr>
            <a:r>
              <a:rPr lang="en-US" sz="1150" dirty="0">
                <a:solidFill>
                  <a:srgbClr val="9AA8C7"/>
                </a:solidFill>
                <a:latin typeface="Arial" pitchFamily="34" charset="0"/>
                <a:ea typeface="Arial" pitchFamily="34" charset="-122"/>
                <a:cs typeface="Arial" pitchFamily="34" charset="-120"/>
              </a:rPr>
              <a:t>The log transform tames the long right tail found in EDA (median $2B, max $180B) so errors are measured in relative terms.</a:t>
            </a:r>
            <a:endParaRPr lang="en-US" sz="1150" dirty="0"/>
          </a:p>
          <a:p>
            <a:pPr algn="l" marL="127000" indent="-127000">
              <a:spcAft>
                <a:spcPts val="800"/>
              </a:spcAft>
              <a:buSzPct val="100000"/>
              <a:buChar char="•"/>
            </a:pPr>
            <a:r>
              <a:rPr lang="en-US" sz="1150" dirty="0">
                <a:solidFill>
                  <a:srgbClr val="9AA8C7"/>
                </a:solidFill>
                <a:latin typeface="Arial" pitchFamily="34" charset="0"/>
                <a:ea typeface="Arial" pitchFamily="34" charset="-122"/>
                <a:cs typeface="Arial" pitchFamily="34" charset="-120"/>
              </a:rPr>
              <a:t>Model outputs feed VC Scout: predicted valuation given funding, sector, and geography becomes the benchmark, and companies or segments above the benchmark flag efficient growth signals.</a:t>
            </a:r>
            <a:endParaRPr lang="en-US" sz="1150" dirty="0"/>
          </a:p>
          <a:p>
            <a:pPr algn="l" marL="127000" indent="-127000">
              <a:spcAft>
                <a:spcPts val="800"/>
              </a:spcAft>
              <a:buSzPct val="100000"/>
              <a:buChar char="•"/>
            </a:pPr>
            <a:r>
              <a:rPr lang="en-US" sz="1150" dirty="0">
                <a:solidFill>
                  <a:srgbClr val="9AA8C7"/>
                </a:solidFill>
                <a:latin typeface="Arial" pitchFamily="34" charset="0"/>
                <a:ea typeface="Arial" pitchFamily="34" charset="-122"/>
                <a:cs typeface="Arial" pitchFamily="34" charset="-120"/>
              </a:rPr>
              <a:t>Framing stays non-causal: coefficients and importances are read as associations among historical unicorns, never as guarantees.</a:t>
            </a:r>
            <a:endParaRPr lang="en-US" sz="1150" dirty="0"/>
          </a:p>
        </p:txBody>
      </p:sp>
      <p:sp>
        <p:nvSpPr>
          <p:cNvPr id="12" name="Shape 10"/>
          <p:cNvSpPr/>
          <p:nvPr/>
        </p:nvSpPr>
        <p:spPr>
          <a:xfrm>
            <a:off x="6199632" y="1828800"/>
            <a:ext cx="5486400" cy="4343400"/>
          </a:xfrm>
          <a:prstGeom prst="roundRect">
            <a:avLst>
              <a:gd name="adj" fmla="val 1895"/>
            </a:avLst>
          </a:prstGeom>
          <a:solidFill>
            <a:srgbClr val="111A2E"/>
          </a:solidFill>
          <a:ln w="12700">
            <a:solidFill>
              <a:srgbClr val="26395E"/>
            </a:solidFill>
            <a:prstDash val="solid"/>
          </a:ln>
        </p:spPr>
      </p:sp>
      <p:sp>
        <p:nvSpPr>
          <p:cNvPr id="13" name="Text 11"/>
          <p:cNvSpPr/>
          <p:nvPr/>
        </p:nvSpPr>
        <p:spPr>
          <a:xfrm>
            <a:off x="6473952" y="2011680"/>
            <a:ext cx="4937760" cy="274320"/>
          </a:xfrm>
          <a:prstGeom prst="rect">
            <a:avLst/>
          </a:prstGeom>
          <a:noFill/>
          <a:ln/>
        </p:spPr>
        <p:txBody>
          <a:bodyPr wrap="square" lIns="0" tIns="0" rIns="0" bIns="0" rtlCol="0" anchor="ctr"/>
          <a:lstStyle/>
          <a:p>
            <a:pPr indent="0" marL="0">
              <a:buNone/>
            </a:pPr>
            <a:r>
              <a:rPr lang="en-US" sz="1300" b="1" dirty="0">
                <a:solidFill>
                  <a:srgbClr val="FFBE55"/>
                </a:solidFill>
                <a:latin typeface="Arial" pitchFamily="34" charset="0"/>
                <a:ea typeface="Arial" pitchFamily="34" charset="-122"/>
                <a:cs typeface="Arial" pitchFamily="34" charset="-120"/>
              </a:rPr>
              <a:t>Optimization, simulation, and other tools</a:t>
            </a:r>
            <a:endParaRPr lang="en-US" sz="1300" dirty="0"/>
          </a:p>
        </p:txBody>
      </p:sp>
      <p:sp>
        <p:nvSpPr>
          <p:cNvPr id="14" name="Shape 12"/>
          <p:cNvSpPr/>
          <p:nvPr/>
        </p:nvSpPr>
        <p:spPr>
          <a:xfrm>
            <a:off x="6473952" y="2414016"/>
            <a:ext cx="237744" cy="237744"/>
          </a:xfrm>
          <a:prstGeom prst="ellipse">
            <a:avLst/>
          </a:prstGeom>
          <a:solidFill>
            <a:srgbClr val="35E7C3"/>
          </a:solidFill>
          <a:ln/>
        </p:spPr>
      </p:sp>
      <p:sp>
        <p:nvSpPr>
          <p:cNvPr id="15" name="Text 13"/>
          <p:cNvSpPr/>
          <p:nvPr/>
        </p:nvSpPr>
        <p:spPr>
          <a:xfrm>
            <a:off x="6839712" y="2359152"/>
            <a:ext cx="4663440" cy="274320"/>
          </a:xfrm>
          <a:prstGeom prst="rect">
            <a:avLst/>
          </a:prstGeom>
          <a:noFill/>
          <a:ln/>
        </p:spPr>
        <p:txBody>
          <a:bodyPr wrap="square" lIns="0" tIns="0" rIns="0" bIns="0" rtlCol="0" anchor="ctr"/>
          <a:lstStyle/>
          <a:p>
            <a:pPr indent="0" marL="0">
              <a:buNone/>
            </a:pPr>
            <a:r>
              <a:rPr lang="en-US" sz="1200" b="1" dirty="0">
                <a:solidFill>
                  <a:srgbClr val="EAF2FF"/>
                </a:solidFill>
                <a:latin typeface="Arial" pitchFamily="34" charset="0"/>
                <a:ea typeface="Arial" pitchFamily="34" charset="-122"/>
                <a:cs typeface="Arial" pitchFamily="34" charset="-120"/>
              </a:rPr>
              <a:t>Supervised ML (scikit-learn)</a:t>
            </a:r>
            <a:endParaRPr lang="en-US" sz="1200" dirty="0"/>
          </a:p>
        </p:txBody>
      </p:sp>
      <p:sp>
        <p:nvSpPr>
          <p:cNvPr id="16" name="Text 14"/>
          <p:cNvSpPr/>
          <p:nvPr/>
        </p:nvSpPr>
        <p:spPr>
          <a:xfrm>
            <a:off x="6839712" y="2633472"/>
            <a:ext cx="4663440" cy="566928"/>
          </a:xfrm>
          <a:prstGeom prst="rect">
            <a:avLst/>
          </a:prstGeom>
          <a:noFill/>
          <a:ln/>
        </p:spPr>
        <p:txBody>
          <a:bodyPr wrap="square" lIns="0" tIns="0" rIns="0" bIns="0" rtlCol="0" anchor="ctr"/>
          <a:lstStyle/>
          <a:p>
            <a:pPr indent="0" marL="0">
              <a:buNone/>
            </a:pPr>
            <a:r>
              <a:rPr lang="en-US" sz="1050" dirty="0">
                <a:solidFill>
                  <a:srgbClr val="9AA8C7"/>
                </a:solidFill>
                <a:latin typeface="Arial" pitchFamily="34" charset="0"/>
                <a:ea typeface="Arial" pitchFamily="34" charset="-122"/>
                <a:cs typeface="Arial" pitchFamily="34" charset="-120"/>
              </a:rPr>
              <a:t>Core tool. Regularized linear models and tree ensembles inside leakage-safe Pipeline objects.</a:t>
            </a:r>
            <a:endParaRPr lang="en-US" sz="1050" dirty="0"/>
          </a:p>
        </p:txBody>
      </p:sp>
      <p:sp>
        <p:nvSpPr>
          <p:cNvPr id="17" name="Shape 15"/>
          <p:cNvSpPr/>
          <p:nvPr/>
        </p:nvSpPr>
        <p:spPr>
          <a:xfrm>
            <a:off x="6473952" y="3328416"/>
            <a:ext cx="237744" cy="237744"/>
          </a:xfrm>
          <a:prstGeom prst="ellipse">
            <a:avLst/>
          </a:prstGeom>
          <a:solidFill>
            <a:srgbClr val="FFBE55"/>
          </a:solidFill>
          <a:ln/>
        </p:spPr>
      </p:sp>
      <p:sp>
        <p:nvSpPr>
          <p:cNvPr id="18" name="Text 16"/>
          <p:cNvSpPr/>
          <p:nvPr/>
        </p:nvSpPr>
        <p:spPr>
          <a:xfrm>
            <a:off x="6839712" y="3273552"/>
            <a:ext cx="4663440" cy="274320"/>
          </a:xfrm>
          <a:prstGeom prst="rect">
            <a:avLst/>
          </a:prstGeom>
          <a:noFill/>
          <a:ln/>
        </p:spPr>
        <p:txBody>
          <a:bodyPr wrap="square" lIns="0" tIns="0" rIns="0" bIns="0" rtlCol="0" anchor="ctr"/>
          <a:lstStyle/>
          <a:p>
            <a:pPr indent="0" marL="0">
              <a:buNone/>
            </a:pPr>
            <a:r>
              <a:rPr lang="en-US" sz="1200" b="1" dirty="0">
                <a:solidFill>
                  <a:srgbClr val="EAF2FF"/>
                </a:solidFill>
                <a:latin typeface="Arial" pitchFamily="34" charset="0"/>
                <a:ea typeface="Arial" pitchFamily="34" charset="-122"/>
                <a:cs typeface="Arial" pitchFamily="34" charset="-120"/>
              </a:rPr>
              <a:t>Grid-search optimization</a:t>
            </a:r>
            <a:endParaRPr lang="en-US" sz="1200" dirty="0"/>
          </a:p>
        </p:txBody>
      </p:sp>
      <p:sp>
        <p:nvSpPr>
          <p:cNvPr id="19" name="Text 17"/>
          <p:cNvSpPr/>
          <p:nvPr/>
        </p:nvSpPr>
        <p:spPr>
          <a:xfrm>
            <a:off x="6839712" y="3547872"/>
            <a:ext cx="4663440" cy="566928"/>
          </a:xfrm>
          <a:prstGeom prst="rect">
            <a:avLst/>
          </a:prstGeom>
          <a:noFill/>
          <a:ln/>
        </p:spPr>
        <p:txBody>
          <a:bodyPr wrap="square" lIns="0" tIns="0" rIns="0" bIns="0" rtlCol="0" anchor="ctr"/>
          <a:lstStyle/>
          <a:p>
            <a:pPr indent="0" marL="0">
              <a:buNone/>
            </a:pPr>
            <a:r>
              <a:rPr lang="en-US" sz="1050" dirty="0">
                <a:solidFill>
                  <a:srgbClr val="9AA8C7"/>
                </a:solidFill>
                <a:latin typeface="Arial" pitchFamily="34" charset="0"/>
                <a:ea typeface="Arial" pitchFamily="34" charset="-122"/>
                <a:cs typeface="Arial" pitchFamily="34" charset="-120"/>
              </a:rPr>
              <a:t>Hyperparameters chosen by exhaustive GridSearchCV over 5-fold cross validation. This is the optimization component of the project.</a:t>
            </a:r>
            <a:endParaRPr lang="en-US" sz="1050" dirty="0"/>
          </a:p>
        </p:txBody>
      </p:sp>
      <p:sp>
        <p:nvSpPr>
          <p:cNvPr id="20" name="Shape 18"/>
          <p:cNvSpPr/>
          <p:nvPr/>
        </p:nvSpPr>
        <p:spPr>
          <a:xfrm>
            <a:off x="6473952" y="4242816"/>
            <a:ext cx="237744" cy="237744"/>
          </a:xfrm>
          <a:prstGeom prst="ellipse">
            <a:avLst/>
          </a:prstGeom>
          <a:solidFill>
            <a:srgbClr val="5EA1FF"/>
          </a:solidFill>
          <a:ln/>
        </p:spPr>
      </p:sp>
      <p:sp>
        <p:nvSpPr>
          <p:cNvPr id="21" name="Text 19"/>
          <p:cNvSpPr/>
          <p:nvPr/>
        </p:nvSpPr>
        <p:spPr>
          <a:xfrm>
            <a:off x="6839712" y="4187952"/>
            <a:ext cx="4663440" cy="274320"/>
          </a:xfrm>
          <a:prstGeom prst="rect">
            <a:avLst/>
          </a:prstGeom>
          <a:noFill/>
          <a:ln/>
        </p:spPr>
        <p:txBody>
          <a:bodyPr wrap="square" lIns="0" tIns="0" rIns="0" bIns="0" rtlCol="0" anchor="ctr"/>
          <a:lstStyle/>
          <a:p>
            <a:pPr indent="0" marL="0">
              <a:buNone/>
            </a:pPr>
            <a:r>
              <a:rPr lang="en-US" sz="1200" b="1" dirty="0">
                <a:solidFill>
                  <a:srgbClr val="EAF2FF"/>
                </a:solidFill>
                <a:latin typeface="Arial" pitchFamily="34" charset="0"/>
                <a:ea typeface="Arial" pitchFamily="34" charset="-122"/>
                <a:cs typeface="Arial" pitchFamily="34" charset="-120"/>
              </a:rPr>
              <a:t>Bootstrap simulation</a:t>
            </a:r>
            <a:endParaRPr lang="en-US" sz="1200" dirty="0"/>
          </a:p>
        </p:txBody>
      </p:sp>
      <p:sp>
        <p:nvSpPr>
          <p:cNvPr id="22" name="Text 20"/>
          <p:cNvSpPr/>
          <p:nvPr/>
        </p:nvSpPr>
        <p:spPr>
          <a:xfrm>
            <a:off x="6839712" y="4462272"/>
            <a:ext cx="4663440" cy="566928"/>
          </a:xfrm>
          <a:prstGeom prst="rect">
            <a:avLst/>
          </a:prstGeom>
          <a:noFill/>
          <a:ln/>
        </p:spPr>
        <p:txBody>
          <a:bodyPr wrap="square" lIns="0" tIns="0" rIns="0" bIns="0" rtlCol="0" anchor="ctr"/>
          <a:lstStyle/>
          <a:p>
            <a:pPr indent="0" marL="0">
              <a:buNone/>
            </a:pPr>
            <a:r>
              <a:rPr lang="en-US" sz="1050" dirty="0">
                <a:solidFill>
                  <a:srgbClr val="9AA8C7"/>
                </a:solidFill>
                <a:latin typeface="Arial" pitchFamily="34" charset="0"/>
                <a:ea typeface="Arial" pitchFamily="34" charset="-122"/>
                <a:cs typeface="Arial" pitchFamily="34" charset="-120"/>
              </a:rPr>
              <a:t>2,000 resamples of the held-out test set simulate the sampling distribution of model accuracy and give a confidence interval.</a:t>
            </a:r>
            <a:endParaRPr lang="en-US" sz="1050" dirty="0"/>
          </a:p>
        </p:txBody>
      </p:sp>
      <p:sp>
        <p:nvSpPr>
          <p:cNvPr id="23" name="Shape 21"/>
          <p:cNvSpPr/>
          <p:nvPr/>
        </p:nvSpPr>
        <p:spPr>
          <a:xfrm>
            <a:off x="6473952" y="5157216"/>
            <a:ext cx="237744" cy="237744"/>
          </a:xfrm>
          <a:prstGeom prst="ellipse">
            <a:avLst/>
          </a:prstGeom>
          <a:solidFill>
            <a:srgbClr val="9C7BFF"/>
          </a:solidFill>
          <a:ln/>
        </p:spPr>
      </p:sp>
      <p:sp>
        <p:nvSpPr>
          <p:cNvPr id="24" name="Text 22"/>
          <p:cNvSpPr/>
          <p:nvPr/>
        </p:nvSpPr>
        <p:spPr>
          <a:xfrm>
            <a:off x="6839712" y="5102352"/>
            <a:ext cx="4663440" cy="274320"/>
          </a:xfrm>
          <a:prstGeom prst="rect">
            <a:avLst/>
          </a:prstGeom>
          <a:noFill/>
          <a:ln/>
        </p:spPr>
        <p:txBody>
          <a:bodyPr wrap="square" lIns="0" tIns="0" rIns="0" bIns="0" rtlCol="0" anchor="ctr"/>
          <a:lstStyle/>
          <a:p>
            <a:pPr indent="0" marL="0">
              <a:buNone/>
            </a:pPr>
            <a:r>
              <a:rPr lang="en-US" sz="1200" b="1" dirty="0">
                <a:solidFill>
                  <a:srgbClr val="EAF2FF"/>
                </a:solidFill>
                <a:latin typeface="Arial" pitchFamily="34" charset="0"/>
                <a:ea typeface="Arial" pitchFamily="34" charset="-122"/>
                <a:cs typeface="Arial" pitchFamily="34" charset="-120"/>
              </a:rPr>
              <a:t>Weighted scoring framework</a:t>
            </a:r>
            <a:endParaRPr lang="en-US" sz="1200" dirty="0"/>
          </a:p>
        </p:txBody>
      </p:sp>
      <p:sp>
        <p:nvSpPr>
          <p:cNvPr id="25" name="Text 23"/>
          <p:cNvSpPr/>
          <p:nvPr/>
        </p:nvSpPr>
        <p:spPr>
          <a:xfrm>
            <a:off x="6839712" y="5376672"/>
            <a:ext cx="4663440" cy="566928"/>
          </a:xfrm>
          <a:prstGeom prst="rect">
            <a:avLst/>
          </a:prstGeom>
          <a:noFill/>
          <a:ln/>
        </p:spPr>
        <p:txBody>
          <a:bodyPr wrap="square" lIns="0" tIns="0" rIns="0" bIns="0" rtlCol="0" anchor="ctr"/>
          <a:lstStyle/>
          <a:p>
            <a:pPr indent="0" marL="0">
              <a:buNone/>
            </a:pPr>
            <a:r>
              <a:rPr lang="en-US" sz="1050" dirty="0">
                <a:solidFill>
                  <a:srgbClr val="9AA8C7"/>
                </a:solidFill>
                <a:latin typeface="Arial" pitchFamily="34" charset="0"/>
                <a:ea typeface="Arial" pitchFamily="34" charset="-122"/>
                <a:cs typeface="Arial" pitchFamily="34" charset="-120"/>
              </a:rPr>
              <a:t>Model residuals and importances convert into transparent VC Scout sector and region scores in the next phase.</a:t>
            </a:r>
            <a:endParaRPr lang="en-US" sz="1050" dirty="0"/>
          </a:p>
        </p:txBody>
      </p:sp>
      <p:sp>
        <p:nvSpPr>
          <p:cNvPr id="26" name="Text 24"/>
          <p:cNvSpPr/>
          <p:nvPr/>
        </p:nvSpPr>
        <p:spPr>
          <a:xfrm>
            <a:off x="502920" y="6473952"/>
            <a:ext cx="8686800" cy="274320"/>
          </a:xfrm>
          <a:prstGeom prst="rect">
            <a:avLst/>
          </a:prstGeom>
          <a:noFill/>
          <a:ln/>
        </p:spPr>
        <p:txBody>
          <a:bodyPr wrap="square" lIns="0" tIns="0" rIns="0" bIns="0" rtlCol="0" anchor="ctr"/>
          <a:lstStyle/>
          <a:p>
            <a:pPr algn="l" indent="0" marL="0">
              <a:buNone/>
            </a:pPr>
            <a:r>
              <a:rPr lang="en-US" sz="900" b="1" dirty="0">
                <a:solidFill>
                  <a:srgbClr val="EAF2FF"/>
                </a:solidFill>
                <a:latin typeface="Arial" pitchFamily="34" charset="0"/>
                <a:ea typeface="Arial" pitchFamily="34" charset="-122"/>
                <a:cs typeface="Arial" pitchFamily="34" charset="-120"/>
              </a:rPr>
              <a:t>Team 17</a:t>
            </a:r>
            <a:pPr algn="l" indent="0" marL="0">
              <a:buNone/>
            </a:pPr>
            <a:r>
              <a:rPr lang="en-US" sz="900" dirty="0">
                <a:solidFill>
                  <a:srgbClr val="9AA8C7"/>
                </a:solidFill>
                <a:latin typeface="Arial" pitchFamily="34" charset="0"/>
                <a:ea typeface="Arial" pitchFamily="34" charset="-122"/>
                <a:cs typeface="Arial" pitchFamily="34" charset="-120"/>
              </a:rPr>
              <a:t>   |   Startup Growth &amp; Investment   |   Model Definition &amp; Initial Results</a:t>
            </a:r>
            <a:endParaRPr lang="en-US" sz="900" dirty="0"/>
          </a:p>
        </p:txBody>
      </p:sp>
      <p:sp>
        <p:nvSpPr>
          <p:cNvPr id="27" name="Text 25"/>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900" dirty="0">
                <a:solidFill>
                  <a:srgbClr val="9AA8C7"/>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020"/>
        </a:solidFill>
      </p:bgPr>
    </p:bg>
    <p:spTree>
      <p:nvGrpSpPr>
        <p:cNvPr id="1" name=""/>
        <p:cNvGrpSpPr/>
        <p:nvPr/>
      </p:nvGrpSpPr>
      <p:grpSpPr>
        <a:xfrm>
          <a:off x="0" y="0"/>
          <a:ext cx="0" cy="0"/>
          <a:chOff x="0" y="0"/>
          <a:chExt cx="0" cy="0"/>
        </a:xfrm>
      </p:grpSpPr>
      <p:sp>
        <p:nvSpPr>
          <p:cNvPr id="2" name="Shape 0"/>
          <p:cNvSpPr/>
          <p:nvPr/>
        </p:nvSpPr>
        <p:spPr>
          <a:xfrm>
            <a:off x="-2194560" y="4937760"/>
            <a:ext cx="5303520" cy="4023360"/>
          </a:xfrm>
          <a:prstGeom prst="ellipse">
            <a:avLst/>
          </a:prstGeom>
          <a:solidFill>
            <a:srgbClr val="35275D">
              <a:alpha val="64000"/>
            </a:srgbClr>
          </a:solidFill>
          <a:ln/>
        </p:spPr>
      </p:sp>
      <p:sp>
        <p:nvSpPr>
          <p:cNvPr id="3" name="Shape 1"/>
          <p:cNvSpPr/>
          <p:nvPr/>
        </p:nvSpPr>
        <p:spPr>
          <a:xfrm>
            <a:off x="10241280" y="-2011680"/>
            <a:ext cx="4754880" cy="4389120"/>
          </a:xfrm>
          <a:prstGeom prst="ellipse">
            <a:avLst/>
          </a:prstGeom>
          <a:solidFill>
            <a:srgbClr val="17473E">
              <a:alpha val="70000"/>
            </a:srgbClr>
          </a:solidFill>
          <a:ln/>
        </p:spPr>
      </p:sp>
      <p:sp>
        <p:nvSpPr>
          <p:cNvPr id="4" name="Shape 2"/>
          <p:cNvSpPr/>
          <p:nvPr/>
        </p:nvSpPr>
        <p:spPr>
          <a:xfrm>
            <a:off x="502920" y="384048"/>
            <a:ext cx="1961388" cy="310896"/>
          </a:xfrm>
          <a:prstGeom prst="roundRect">
            <a:avLst>
              <a:gd name="adj" fmla="val 50000"/>
            </a:avLst>
          </a:prstGeom>
          <a:solidFill>
            <a:srgbClr val="9C7BFF"/>
          </a:solidFill>
          <a:ln/>
        </p:spPr>
      </p:sp>
      <p:sp>
        <p:nvSpPr>
          <p:cNvPr id="5" name="Text 3"/>
          <p:cNvSpPr/>
          <p:nvPr/>
        </p:nvSpPr>
        <p:spPr>
          <a:xfrm>
            <a:off x="502920" y="384048"/>
            <a:ext cx="1961388" cy="310896"/>
          </a:xfrm>
          <a:prstGeom prst="rect">
            <a:avLst/>
          </a:prstGeom>
          <a:noFill/>
          <a:ln/>
        </p:spPr>
        <p:txBody>
          <a:bodyPr wrap="none" lIns="0" tIns="0" rIns="0" bIns="0" rtlCol="0" anchor="ctr"/>
          <a:lstStyle/>
          <a:p>
            <a:pPr algn="ctr" indent="0" marL="0">
              <a:buNone/>
            </a:pPr>
            <a:r>
              <a:rPr lang="en-US" sz="1050" b="1" spc="100" kern="0" dirty="0">
                <a:solidFill>
                  <a:srgbClr val="0A1020"/>
                </a:solidFill>
                <a:latin typeface="Arial" pitchFamily="34" charset="0"/>
                <a:ea typeface="Arial" pitchFamily="34" charset="-122"/>
                <a:cs typeface="Arial" pitchFamily="34" charset="-120"/>
              </a:rPr>
              <a:t>DATA &amp; FEATURES</a:t>
            </a:r>
            <a:endParaRPr lang="en-US" sz="1050" dirty="0"/>
          </a:p>
        </p:txBody>
      </p:sp>
      <p:sp>
        <p:nvSpPr>
          <p:cNvPr id="6" name="Text 4"/>
          <p:cNvSpPr/>
          <p:nvPr/>
        </p:nvSpPr>
        <p:spPr>
          <a:xfrm>
            <a:off x="502920" y="749808"/>
            <a:ext cx="11155680" cy="566928"/>
          </a:xfrm>
          <a:prstGeom prst="rect">
            <a:avLst/>
          </a:prstGeom>
          <a:noFill/>
          <a:ln/>
        </p:spPr>
        <p:txBody>
          <a:bodyPr wrap="square" lIns="0" tIns="0" rIns="0" bIns="0" rtlCol="0" anchor="ctr"/>
          <a:lstStyle/>
          <a:p>
            <a:pPr indent="0" marL="0">
              <a:buNone/>
            </a:pPr>
            <a:r>
              <a:rPr lang="en-US" sz="2700" b="1" dirty="0">
                <a:solidFill>
                  <a:srgbClr val="EAF2FF"/>
                </a:solidFill>
                <a:latin typeface="Arial" pitchFamily="34" charset="0"/>
                <a:ea typeface="Arial" pitchFamily="34" charset="-122"/>
                <a:cs typeface="Arial" pitchFamily="34" charset="-120"/>
              </a:rPr>
              <a:t>Variable definitions, feature engineering, and sampling</a:t>
            </a:r>
            <a:endParaRPr lang="en-US" sz="2700" dirty="0"/>
          </a:p>
        </p:txBody>
      </p:sp>
      <p:sp>
        <p:nvSpPr>
          <p:cNvPr id="7" name="Text 5"/>
          <p:cNvSpPr/>
          <p:nvPr/>
        </p:nvSpPr>
        <p:spPr>
          <a:xfrm>
            <a:off x="502920" y="1316736"/>
            <a:ext cx="11155680" cy="310896"/>
          </a:xfrm>
          <a:prstGeom prst="rect">
            <a:avLst/>
          </a:prstGeom>
          <a:noFill/>
          <a:ln/>
        </p:spPr>
        <p:txBody>
          <a:bodyPr wrap="square" lIns="0" tIns="0" rIns="0" bIns="0" rtlCol="0" anchor="ctr"/>
          <a:lstStyle/>
          <a:p>
            <a:pPr indent="0" marL="0">
              <a:buNone/>
            </a:pPr>
            <a:r>
              <a:rPr lang="en-US" sz="1250" i="1" dirty="0">
                <a:solidFill>
                  <a:srgbClr val="9AA8C7"/>
                </a:solidFill>
                <a:latin typeface="Arial" pitchFamily="34" charset="0"/>
                <a:ea typeface="Arial" pitchFamily="34" charset="-122"/>
                <a:cs typeface="Arial" pitchFamily="34" charset="-120"/>
              </a:rPr>
              <a:t>Every engineered field is auditable, and every excluded row is counted, consistent with the EDA cleaning rules.</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6903720" cy="914400"/>
        </p:xfrm>
        <a:graphic>
          <a:graphicData uri="http://schemas.openxmlformats.org/drawingml/2006/table">
            <a:tbl>
              <a:tblPr/>
              <a:tblGrid>
                <a:gridCol w="1554480"/>
                <a:gridCol w="868680"/>
                <a:gridCol w="4480560"/>
              </a:tblGrid>
              <a:tr h="310896">
                <a:tc>
                  <a:txBody>
                    <a:bodyPr/>
                    <a:lstStyle/>
                    <a:p>
                      <a:pPr indent="0" marL="0">
                        <a:buNone/>
                      </a:pPr>
                      <a:r>
                        <a:rPr lang="en-US" sz="1050" b="1" dirty="0">
                          <a:solidFill>
                            <a:srgbClr val="EAF2FF"/>
                          </a:solidFill>
                          <a:latin typeface="Arial" pitchFamily="34" charset="0"/>
                          <a:ea typeface="Arial" pitchFamily="34" charset="-122"/>
                          <a:cs typeface="Arial" pitchFamily="34" charset="-120"/>
                        </a:rPr>
                        <a:t>Variable</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b="1" dirty="0">
                          <a:solidFill>
                            <a:srgbClr val="EAF2FF"/>
                          </a:solidFill>
                          <a:latin typeface="Arial" pitchFamily="34" charset="0"/>
                          <a:ea typeface="Arial" pitchFamily="34" charset="-122"/>
                          <a:cs typeface="Arial" pitchFamily="34" charset="-120"/>
                        </a:rPr>
                        <a:t>Role</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b="1" dirty="0">
                          <a:solidFill>
                            <a:srgbClr val="EAF2FF"/>
                          </a:solidFill>
                          <a:latin typeface="Arial" pitchFamily="34" charset="0"/>
                          <a:ea typeface="Arial" pitchFamily="34" charset="-122"/>
                          <a:cs typeface="Arial" pitchFamily="34" charset="-120"/>
                        </a:rPr>
                        <a:t>Definition and engineering</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310896">
                <a:tc>
                  <a:txBody>
                    <a:bodyPr/>
                    <a:lstStyle/>
                    <a:p>
                      <a:pPr indent="0" marL="0">
                        <a:buNone/>
                      </a:pPr>
                      <a:r>
                        <a:rPr lang="en-US" sz="1050" dirty="0">
                          <a:solidFill>
                            <a:srgbClr val="9AA8C7"/>
                          </a:solidFill>
                          <a:latin typeface="Arial" pitchFamily="34" charset="0"/>
                          <a:ea typeface="Arial" pitchFamily="34" charset="-122"/>
                          <a:cs typeface="Arial" pitchFamily="34" charset="-120"/>
                        </a:rPr>
                        <a:t>ln(Valuation)</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Target</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Natural log of valuation parsed from strings like "$180B" into numeric $B.</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310896">
                <a:tc>
                  <a:txBody>
                    <a:bodyPr/>
                    <a:lstStyle/>
                    <a:p>
                      <a:pPr indent="0" marL="0">
                        <a:buNone/>
                      </a:pPr>
                      <a:r>
                        <a:rPr lang="en-US" sz="1050" dirty="0">
                          <a:solidFill>
                            <a:srgbClr val="9AA8C7"/>
                          </a:solidFill>
                          <a:latin typeface="Arial" pitchFamily="34" charset="0"/>
                          <a:ea typeface="Arial" pitchFamily="34" charset="-122"/>
                          <a:cs typeface="Arial" pitchFamily="34" charset="-120"/>
                        </a:rPr>
                        <a:t>ln(Funding)</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Feature</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Natural log of disclosed funding; $M values converted to $B before the log.</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310896">
                <a:tc>
                  <a:txBody>
                    <a:bodyPr/>
                    <a:lstStyle/>
                    <a:p>
                      <a:pPr indent="0" marL="0">
                        <a:buNone/>
                      </a:pPr>
                      <a:r>
                        <a:rPr lang="en-US" sz="1050" dirty="0">
                          <a:solidFill>
                            <a:srgbClr val="9AA8C7"/>
                          </a:solidFill>
                          <a:latin typeface="Arial" pitchFamily="34" charset="0"/>
                          <a:ea typeface="Arial" pitchFamily="34" charset="-122"/>
                          <a:cs typeface="Arial" pitchFamily="34" charset="-120"/>
                        </a:rPr>
                        <a:t>Industry</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Feature</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15 standardized sectors; the AI capitalization duplicate is merged.</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310896">
                <a:tc>
                  <a:txBody>
                    <a:bodyPr/>
                    <a:lstStyle/>
                    <a:p>
                      <a:pPr indent="0" marL="0">
                        <a:buNone/>
                      </a:pPr>
                      <a:r>
                        <a:rPr lang="en-US" sz="1050" dirty="0">
                          <a:solidFill>
                            <a:srgbClr val="9AA8C7"/>
                          </a:solidFill>
                          <a:latin typeface="Arial" pitchFamily="34" charset="0"/>
                          <a:ea typeface="Arial" pitchFamily="34" charset="-122"/>
                          <a:cs typeface="Arial" pitchFamily="34" charset="-120"/>
                        </a:rPr>
                        <a:t>Continent</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Feature</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Headquarters region, 6 categories, one-hot encoded.</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310896">
                <a:tc>
                  <a:txBody>
                    <a:bodyPr/>
                    <a:lstStyle/>
                    <a:p>
                      <a:pPr indent="0" marL="0">
                        <a:buNone/>
                      </a:pPr>
                      <a:r>
                        <a:rPr lang="en-US" sz="1050" dirty="0">
                          <a:solidFill>
                            <a:srgbClr val="9AA8C7"/>
                          </a:solidFill>
                          <a:latin typeface="Arial" pitchFamily="34" charset="0"/>
                          <a:ea typeface="Arial" pitchFamily="34" charset="-122"/>
                          <a:cs typeface="Arial" pitchFamily="34" charset="-120"/>
                        </a:rPr>
                        <a:t>Era</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Feature</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Market regime cohort: Pre-2021, 2021, Post-2021, from EDA finding H1.</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310896">
                <a:tc>
                  <a:txBody>
                    <a:bodyPr/>
                    <a:lstStyle/>
                    <a:p>
                      <a:pPr indent="0" marL="0">
                        <a:buNone/>
                      </a:pPr>
                      <a:r>
                        <a:rPr lang="en-US" sz="1050" dirty="0">
                          <a:solidFill>
                            <a:srgbClr val="9AA8C7"/>
                          </a:solidFill>
                          <a:latin typeface="Arial" pitchFamily="34" charset="0"/>
                          <a:ea typeface="Arial" pitchFamily="34" charset="-122"/>
                          <a:cs typeface="Arial" pitchFamily="34" charset="-120"/>
                        </a:rPr>
                        <a:t>Years to unicorn</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Feature</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Unicorn year minus founding year; speed of the growth path.</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310896">
                <a:tc>
                  <a:txBody>
                    <a:bodyPr/>
                    <a:lstStyle/>
                    <a:p>
                      <a:pPr indent="0" marL="0">
                        <a:buNone/>
                      </a:pPr>
                      <a:r>
                        <a:rPr lang="en-US" sz="1050" dirty="0">
                          <a:solidFill>
                            <a:srgbClr val="9AA8C7"/>
                          </a:solidFill>
                          <a:latin typeface="Arial" pitchFamily="34" charset="0"/>
                          <a:ea typeface="Arial" pitchFamily="34" charset="-122"/>
                          <a:cs typeface="Arial" pitchFamily="34" charset="-120"/>
                        </a:rPr>
                        <a:t>Investor count</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Feature</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Count of names listed in the Select Investors field.</a:t>
                      </a:r>
                      <a:endParaRPr lang="en-US" sz="1050" dirty="0">
                        <a:latin typeface="Arial" charset="0"/>
                        <a:ea typeface="Arial" charset="0"/>
                        <a:cs typeface="Arial" charset="0"/>
                      </a:endParaRPr>
                    </a:p>
                  </a:txBody>
                  <a:tcPr marL="54864" marR="54864" marT="54864" marB="54864"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bl>
          </a:graphicData>
        </a:graphic>
      </p:graphicFrame>
      <p:sp>
        <p:nvSpPr>
          <p:cNvPr id="9" name="Shape 6"/>
          <p:cNvSpPr/>
          <p:nvPr/>
        </p:nvSpPr>
        <p:spPr>
          <a:xfrm>
            <a:off x="7607808" y="1874520"/>
            <a:ext cx="4078224" cy="2084832"/>
          </a:xfrm>
          <a:prstGeom prst="roundRect">
            <a:avLst>
              <a:gd name="adj" fmla="val 3947"/>
            </a:avLst>
          </a:prstGeom>
          <a:solidFill>
            <a:srgbClr val="111A2E"/>
          </a:solidFill>
          <a:ln w="12700">
            <a:solidFill>
              <a:srgbClr val="26395E"/>
            </a:solidFill>
            <a:prstDash val="solid"/>
          </a:ln>
        </p:spPr>
      </p:sp>
      <p:sp>
        <p:nvSpPr>
          <p:cNvPr id="10" name="Text 7"/>
          <p:cNvSpPr/>
          <p:nvPr/>
        </p:nvSpPr>
        <p:spPr>
          <a:xfrm>
            <a:off x="7863840" y="2029968"/>
            <a:ext cx="3566160" cy="274320"/>
          </a:xfrm>
          <a:prstGeom prst="rect">
            <a:avLst/>
          </a:prstGeom>
          <a:noFill/>
          <a:ln/>
        </p:spPr>
        <p:txBody>
          <a:bodyPr wrap="square" lIns="0" tIns="0" rIns="0" bIns="0" rtlCol="0" anchor="ctr"/>
          <a:lstStyle/>
          <a:p>
            <a:pPr indent="0" marL="0">
              <a:buNone/>
            </a:pPr>
            <a:r>
              <a:rPr lang="en-US" sz="1300" b="1" dirty="0">
                <a:solidFill>
                  <a:srgbClr val="35E7C3"/>
                </a:solidFill>
                <a:latin typeface="Arial" pitchFamily="34" charset="0"/>
                <a:ea typeface="Arial" pitchFamily="34" charset="-122"/>
                <a:cs typeface="Arial" pitchFamily="34" charset="-120"/>
              </a:rPr>
              <a:t>Preprocessing and sampling</a:t>
            </a:r>
            <a:endParaRPr lang="en-US" sz="1300" dirty="0"/>
          </a:p>
        </p:txBody>
      </p:sp>
      <p:sp>
        <p:nvSpPr>
          <p:cNvPr id="11" name="Text 8"/>
          <p:cNvSpPr/>
          <p:nvPr/>
        </p:nvSpPr>
        <p:spPr>
          <a:xfrm>
            <a:off x="7863840" y="2359152"/>
            <a:ext cx="3611880" cy="1554480"/>
          </a:xfrm>
          <a:prstGeom prst="rect">
            <a:avLst/>
          </a:prstGeom>
          <a:noFill/>
          <a:ln/>
        </p:spPr>
        <p:txBody>
          <a:bodyPr wrap="square" lIns="0" tIns="0" rIns="0" bIns="0" rtlCol="0" anchor="t"/>
          <a:lstStyle/>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One-hot encoding for categoricals; standardization for linear and KNN models only.</a:t>
            </a:r>
            <a:endParaRPr lang="en-US" sz="1050" dirty="0"/>
          </a:p>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Sampling: 80/20 train/test split (848/212, seed 17); 5-fold CV inside the training set.</a:t>
            </a:r>
            <a:endParaRPr lang="en-US" sz="1050" dirty="0"/>
          </a:p>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All transforms fit on training folds only, inside sklearn Pipelines, to prevent leakage.</a:t>
            </a:r>
            <a:endParaRPr lang="en-US" sz="1050" dirty="0"/>
          </a:p>
        </p:txBody>
      </p:sp>
      <p:sp>
        <p:nvSpPr>
          <p:cNvPr id="12" name="Shape 9"/>
          <p:cNvSpPr/>
          <p:nvPr/>
        </p:nvSpPr>
        <p:spPr>
          <a:xfrm>
            <a:off x="7607808" y="4133088"/>
            <a:ext cx="4078224" cy="2039112"/>
          </a:xfrm>
          <a:prstGeom prst="roundRect">
            <a:avLst>
              <a:gd name="adj" fmla="val 4036"/>
            </a:avLst>
          </a:prstGeom>
          <a:solidFill>
            <a:srgbClr val="111A2E"/>
          </a:solidFill>
          <a:ln w="12700">
            <a:solidFill>
              <a:srgbClr val="26395E"/>
            </a:solidFill>
            <a:prstDash val="solid"/>
          </a:ln>
        </p:spPr>
      </p:sp>
      <p:sp>
        <p:nvSpPr>
          <p:cNvPr id="13" name="Text 10"/>
          <p:cNvSpPr/>
          <p:nvPr/>
        </p:nvSpPr>
        <p:spPr>
          <a:xfrm>
            <a:off x="7863840" y="4288536"/>
            <a:ext cx="3566160" cy="274320"/>
          </a:xfrm>
          <a:prstGeom prst="rect">
            <a:avLst/>
          </a:prstGeom>
          <a:noFill/>
          <a:ln/>
        </p:spPr>
        <p:txBody>
          <a:bodyPr wrap="square" lIns="0" tIns="0" rIns="0" bIns="0" rtlCol="0" anchor="ctr"/>
          <a:lstStyle/>
          <a:p>
            <a:pPr indent="0" marL="0">
              <a:buNone/>
            </a:pPr>
            <a:r>
              <a:rPr lang="en-US" sz="1300" b="1" dirty="0">
                <a:solidFill>
                  <a:srgbClr val="FF6B7A"/>
                </a:solidFill>
                <a:latin typeface="Arial" pitchFamily="34" charset="0"/>
                <a:ea typeface="Arial" pitchFamily="34" charset="-122"/>
                <a:cs typeface="Arial" pitchFamily="34" charset="-120"/>
              </a:rPr>
              <a:t>Exclusions: 1,074 to 1,060 rows</a:t>
            </a:r>
            <a:endParaRPr lang="en-US" sz="1300" dirty="0"/>
          </a:p>
        </p:txBody>
      </p:sp>
      <p:sp>
        <p:nvSpPr>
          <p:cNvPr id="14" name="Text 11"/>
          <p:cNvSpPr/>
          <p:nvPr/>
        </p:nvSpPr>
        <p:spPr>
          <a:xfrm>
            <a:off x="7863840" y="4617720"/>
            <a:ext cx="3611880" cy="1463040"/>
          </a:xfrm>
          <a:prstGeom prst="rect">
            <a:avLst/>
          </a:prstGeom>
          <a:noFill/>
          <a:ln/>
        </p:spPr>
        <p:txBody>
          <a:bodyPr wrap="square" lIns="0" tIns="0" rIns="0" bIns="0" rtlCol="0" anchor="t"/>
          <a:lstStyle/>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12 rows with unknown funding and 1 with $0 funding (log undefined).</a:t>
            </a:r>
            <a:endParaRPr lang="en-US" sz="1050" dirty="0"/>
          </a:p>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1 negative years-to-unicorn date anomaly flagged in EDA.</a:t>
            </a:r>
            <a:endParaRPr lang="en-US" sz="1050" dirty="0"/>
          </a:p>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Funding efficiency is NOT a feature: it contains the target (valuation / funding), so using it would leak the answer.</a:t>
            </a:r>
            <a:endParaRPr lang="en-US" sz="1050" dirty="0"/>
          </a:p>
        </p:txBody>
      </p:sp>
      <p:sp>
        <p:nvSpPr>
          <p:cNvPr id="15" name="Text 12"/>
          <p:cNvSpPr/>
          <p:nvPr/>
        </p:nvSpPr>
        <p:spPr>
          <a:xfrm>
            <a:off x="502920" y="6473952"/>
            <a:ext cx="8686800" cy="274320"/>
          </a:xfrm>
          <a:prstGeom prst="rect">
            <a:avLst/>
          </a:prstGeom>
          <a:noFill/>
          <a:ln/>
        </p:spPr>
        <p:txBody>
          <a:bodyPr wrap="square" lIns="0" tIns="0" rIns="0" bIns="0" rtlCol="0" anchor="ctr"/>
          <a:lstStyle/>
          <a:p>
            <a:pPr algn="l" indent="0" marL="0">
              <a:buNone/>
            </a:pPr>
            <a:r>
              <a:rPr lang="en-US" sz="900" b="1" dirty="0">
                <a:solidFill>
                  <a:srgbClr val="EAF2FF"/>
                </a:solidFill>
                <a:latin typeface="Arial" pitchFamily="34" charset="0"/>
                <a:ea typeface="Arial" pitchFamily="34" charset="-122"/>
                <a:cs typeface="Arial" pitchFamily="34" charset="-120"/>
              </a:rPr>
              <a:t>Team 17</a:t>
            </a:r>
            <a:pPr algn="l" indent="0" marL="0">
              <a:buNone/>
            </a:pPr>
            <a:r>
              <a:rPr lang="en-US" sz="900" dirty="0">
                <a:solidFill>
                  <a:srgbClr val="9AA8C7"/>
                </a:solidFill>
                <a:latin typeface="Arial" pitchFamily="34" charset="0"/>
                <a:ea typeface="Arial" pitchFamily="34" charset="-122"/>
                <a:cs typeface="Arial" pitchFamily="34" charset="-120"/>
              </a:rPr>
              <a:t>   |   Startup Growth &amp; Investment   |   Model Definition &amp; Initial Results</a:t>
            </a:r>
            <a:endParaRPr lang="en-US" sz="900" dirty="0"/>
          </a:p>
        </p:txBody>
      </p:sp>
      <p:sp>
        <p:nvSpPr>
          <p:cNvPr id="16" name="Text 13"/>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900" dirty="0">
                <a:solidFill>
                  <a:srgbClr val="9AA8C7"/>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020"/>
        </a:solidFill>
      </p:bgPr>
    </p:bg>
    <p:spTree>
      <p:nvGrpSpPr>
        <p:cNvPr id="1" name=""/>
        <p:cNvGrpSpPr/>
        <p:nvPr/>
      </p:nvGrpSpPr>
      <p:grpSpPr>
        <a:xfrm>
          <a:off x="0" y="0"/>
          <a:ext cx="0" cy="0"/>
          <a:chOff x="0" y="0"/>
          <a:chExt cx="0" cy="0"/>
        </a:xfrm>
      </p:grpSpPr>
      <p:sp>
        <p:nvSpPr>
          <p:cNvPr id="2" name="Shape 0"/>
          <p:cNvSpPr/>
          <p:nvPr/>
        </p:nvSpPr>
        <p:spPr>
          <a:xfrm>
            <a:off x="-2011680" y="4480560"/>
            <a:ext cx="5943600" cy="4754880"/>
          </a:xfrm>
          <a:prstGeom prst="ellipse">
            <a:avLst/>
          </a:prstGeom>
          <a:solidFill>
            <a:srgbClr val="17473E">
              <a:alpha val="65000"/>
            </a:srgbClr>
          </a:solidFill>
          <a:ln/>
        </p:spPr>
      </p:sp>
      <p:sp>
        <p:nvSpPr>
          <p:cNvPr id="3" name="Shape 1"/>
          <p:cNvSpPr/>
          <p:nvPr/>
        </p:nvSpPr>
        <p:spPr>
          <a:xfrm>
            <a:off x="9509760" y="-2377440"/>
            <a:ext cx="5303520" cy="4937760"/>
          </a:xfrm>
          <a:prstGeom prst="ellipse">
            <a:avLst/>
          </a:prstGeom>
          <a:solidFill>
            <a:srgbClr val="35275D">
              <a:alpha val="70000"/>
            </a:srgbClr>
          </a:solidFill>
          <a:ln/>
        </p:spPr>
      </p:sp>
      <p:sp>
        <p:nvSpPr>
          <p:cNvPr id="4" name="Shape 2"/>
          <p:cNvSpPr/>
          <p:nvPr/>
        </p:nvSpPr>
        <p:spPr>
          <a:xfrm>
            <a:off x="502920" y="384048"/>
            <a:ext cx="2171700" cy="310896"/>
          </a:xfrm>
          <a:prstGeom prst="roundRect">
            <a:avLst>
              <a:gd name="adj" fmla="val 50000"/>
            </a:avLst>
          </a:prstGeom>
          <a:solidFill>
            <a:srgbClr val="35E7C3"/>
          </a:solidFill>
          <a:ln/>
        </p:spPr>
      </p:sp>
      <p:sp>
        <p:nvSpPr>
          <p:cNvPr id="5" name="Text 3"/>
          <p:cNvSpPr/>
          <p:nvPr/>
        </p:nvSpPr>
        <p:spPr>
          <a:xfrm>
            <a:off x="502920" y="384048"/>
            <a:ext cx="2171700" cy="310896"/>
          </a:xfrm>
          <a:prstGeom prst="rect">
            <a:avLst/>
          </a:prstGeom>
          <a:noFill/>
          <a:ln/>
        </p:spPr>
        <p:txBody>
          <a:bodyPr wrap="none" lIns="0" tIns="0" rIns="0" bIns="0" rtlCol="0" anchor="ctr"/>
          <a:lstStyle/>
          <a:p>
            <a:pPr algn="ctr" indent="0" marL="0">
              <a:buNone/>
            </a:pPr>
            <a:r>
              <a:rPr lang="en-US" sz="1050" b="1" spc="100" kern="0" dirty="0">
                <a:solidFill>
                  <a:srgbClr val="0A1020"/>
                </a:solidFill>
                <a:latin typeface="Arial" pitchFamily="34" charset="0"/>
                <a:ea typeface="Arial" pitchFamily="34" charset="-122"/>
                <a:cs typeface="Arial" pitchFamily="34" charset="-120"/>
              </a:rPr>
              <a:t>MODEL DEFINITIONS</a:t>
            </a:r>
            <a:endParaRPr lang="en-US" sz="1050" dirty="0"/>
          </a:p>
        </p:txBody>
      </p:sp>
      <p:sp>
        <p:nvSpPr>
          <p:cNvPr id="6" name="Text 4"/>
          <p:cNvSpPr/>
          <p:nvPr/>
        </p:nvSpPr>
        <p:spPr>
          <a:xfrm>
            <a:off x="502920" y="749808"/>
            <a:ext cx="11155680" cy="566928"/>
          </a:xfrm>
          <a:prstGeom prst="rect">
            <a:avLst/>
          </a:prstGeom>
          <a:noFill/>
          <a:ln/>
        </p:spPr>
        <p:txBody>
          <a:bodyPr wrap="square" lIns="0" tIns="0" rIns="0" bIns="0" rtlCol="0" anchor="ctr"/>
          <a:lstStyle/>
          <a:p>
            <a:pPr indent="0" marL="0">
              <a:buNone/>
            </a:pPr>
            <a:r>
              <a:rPr lang="en-US" sz="2700" b="1" dirty="0">
                <a:solidFill>
                  <a:srgbClr val="EAF2FF"/>
                </a:solidFill>
                <a:latin typeface="Arial" pitchFamily="34" charset="0"/>
                <a:ea typeface="Arial" pitchFamily="34" charset="-122"/>
                <a:cs typeface="Arial" pitchFamily="34" charset="-120"/>
              </a:rPr>
              <a:t>Why this set of models: interpretability plus flexibility</a:t>
            </a:r>
            <a:endParaRPr lang="en-US" sz="2700" dirty="0"/>
          </a:p>
        </p:txBody>
      </p:sp>
      <p:sp>
        <p:nvSpPr>
          <p:cNvPr id="7" name="Text 5"/>
          <p:cNvSpPr/>
          <p:nvPr/>
        </p:nvSpPr>
        <p:spPr>
          <a:xfrm>
            <a:off x="502920" y="1316736"/>
            <a:ext cx="11155680" cy="310896"/>
          </a:xfrm>
          <a:prstGeom prst="rect">
            <a:avLst/>
          </a:prstGeom>
          <a:noFill/>
          <a:ln/>
        </p:spPr>
        <p:txBody>
          <a:bodyPr wrap="square" lIns="0" tIns="0" rIns="0" bIns="0" rtlCol="0" anchor="ctr"/>
          <a:lstStyle/>
          <a:p>
            <a:pPr indent="0" marL="0">
              <a:buNone/>
            </a:pPr>
            <a:r>
              <a:rPr lang="en-US" sz="1250" i="1" dirty="0">
                <a:solidFill>
                  <a:srgbClr val="9AA8C7"/>
                </a:solidFill>
                <a:latin typeface="Arial" pitchFamily="34" charset="0"/>
                <a:ea typeface="Arial" pitchFamily="34" charset="-122"/>
                <a:cs typeface="Arial" pitchFamily="34" charset="-120"/>
              </a:rPr>
              <a:t>Each candidate answers a different question about the data; together they bracket the bias-variance tradeoff.</a:t>
            </a:r>
            <a:endParaRPr lang="en-US" sz="1250" dirty="0"/>
          </a:p>
        </p:txBody>
      </p:sp>
      <p:sp>
        <p:nvSpPr>
          <p:cNvPr id="8" name="Shape 6"/>
          <p:cNvSpPr/>
          <p:nvPr/>
        </p:nvSpPr>
        <p:spPr>
          <a:xfrm>
            <a:off x="502920" y="1874520"/>
            <a:ext cx="3675888" cy="1298448"/>
          </a:xfrm>
          <a:prstGeom prst="roundRect">
            <a:avLst>
              <a:gd name="adj" fmla="val 6338"/>
            </a:avLst>
          </a:prstGeom>
          <a:solidFill>
            <a:srgbClr val="16203A"/>
          </a:solidFill>
          <a:ln w="12700">
            <a:solidFill>
              <a:srgbClr val="26395E"/>
            </a:solidFill>
            <a:prstDash val="solid"/>
          </a:ln>
        </p:spPr>
      </p:sp>
      <p:sp>
        <p:nvSpPr>
          <p:cNvPr id="9" name="Shape 7"/>
          <p:cNvSpPr/>
          <p:nvPr/>
        </p:nvSpPr>
        <p:spPr>
          <a:xfrm>
            <a:off x="685800" y="2048256"/>
            <a:ext cx="91440" cy="950976"/>
          </a:xfrm>
          <a:prstGeom prst="roundRect">
            <a:avLst>
              <a:gd name="adj" fmla="val 50000"/>
            </a:avLst>
          </a:prstGeom>
          <a:solidFill>
            <a:srgbClr val="9AA8C7"/>
          </a:solidFill>
          <a:ln/>
        </p:spPr>
      </p:sp>
      <p:sp>
        <p:nvSpPr>
          <p:cNvPr id="10" name="Text 8"/>
          <p:cNvSpPr/>
          <p:nvPr/>
        </p:nvSpPr>
        <p:spPr>
          <a:xfrm>
            <a:off x="905256" y="1993392"/>
            <a:ext cx="3127248" cy="274320"/>
          </a:xfrm>
          <a:prstGeom prst="rect">
            <a:avLst/>
          </a:prstGeom>
          <a:noFill/>
          <a:ln/>
        </p:spPr>
        <p:txBody>
          <a:bodyPr wrap="square" lIns="0" tIns="0" rIns="0" bIns="0" rtlCol="0" anchor="ctr"/>
          <a:lstStyle/>
          <a:p>
            <a:pPr indent="0" marL="0">
              <a:buNone/>
            </a:pPr>
            <a:r>
              <a:rPr lang="en-US" sz="1250" b="1" dirty="0">
                <a:solidFill>
                  <a:srgbClr val="EAF2FF"/>
                </a:solidFill>
                <a:latin typeface="Arial" pitchFamily="34" charset="0"/>
                <a:ea typeface="Arial" pitchFamily="34" charset="-122"/>
                <a:cs typeface="Arial" pitchFamily="34" charset="-120"/>
              </a:rPr>
              <a:t>Baseline (mean)   </a:t>
            </a:r>
            <a:pPr indent="0" marL="0">
              <a:buNone/>
            </a:pPr>
            <a:r>
              <a:rPr lang="en-US" sz="1050" i="1" dirty="0">
                <a:solidFill>
                  <a:srgbClr val="9AA8C7"/>
                </a:solidFill>
                <a:latin typeface="Arial" pitchFamily="34" charset="0"/>
                <a:ea typeface="Arial" pitchFamily="34" charset="-122"/>
                <a:cs typeface="Arial" pitchFamily="34" charset="-120"/>
              </a:rPr>
              <a:t>Sanity floor</a:t>
            </a:r>
            <a:endParaRPr lang="en-US" sz="1250" dirty="0"/>
          </a:p>
        </p:txBody>
      </p:sp>
      <p:sp>
        <p:nvSpPr>
          <p:cNvPr id="11" name="Text 9"/>
          <p:cNvSpPr/>
          <p:nvPr/>
        </p:nvSpPr>
        <p:spPr>
          <a:xfrm>
            <a:off x="905256" y="2276856"/>
            <a:ext cx="3108960" cy="841248"/>
          </a:xfrm>
          <a:prstGeom prst="rect">
            <a:avLst/>
          </a:prstGeom>
          <a:noFill/>
          <a:ln/>
        </p:spPr>
        <p:txBody>
          <a:bodyPr wrap="square" lIns="0" tIns="0" rIns="0" bIns="0" rtlCol="0" anchor="ctr"/>
          <a:lstStyle/>
          <a:p>
            <a:pPr indent="0" marL="0">
              <a:buNone/>
            </a:pPr>
            <a:r>
              <a:rPr lang="en-US" sz="980" dirty="0">
                <a:solidFill>
                  <a:srgbClr val="9AA8C7"/>
                </a:solidFill>
                <a:latin typeface="Arial" pitchFamily="34" charset="0"/>
                <a:ea typeface="Arial" pitchFamily="34" charset="-122"/>
                <a:cs typeface="Arial" pitchFamily="34" charset="-120"/>
              </a:rPr>
              <a:t>Predicts the training mean. Any real model must beat R² = 0.</a:t>
            </a:r>
            <a:endParaRPr lang="en-US" sz="980" dirty="0"/>
          </a:p>
        </p:txBody>
      </p:sp>
      <p:sp>
        <p:nvSpPr>
          <p:cNvPr id="12" name="Shape 10"/>
          <p:cNvSpPr/>
          <p:nvPr/>
        </p:nvSpPr>
        <p:spPr>
          <a:xfrm>
            <a:off x="4251960" y="1874520"/>
            <a:ext cx="3675888" cy="1298448"/>
          </a:xfrm>
          <a:prstGeom prst="roundRect">
            <a:avLst>
              <a:gd name="adj" fmla="val 6338"/>
            </a:avLst>
          </a:prstGeom>
          <a:solidFill>
            <a:srgbClr val="16203A"/>
          </a:solidFill>
          <a:ln w="12700">
            <a:solidFill>
              <a:srgbClr val="26395E"/>
            </a:solidFill>
            <a:prstDash val="solid"/>
          </a:ln>
        </p:spPr>
      </p:sp>
      <p:sp>
        <p:nvSpPr>
          <p:cNvPr id="13" name="Shape 11"/>
          <p:cNvSpPr/>
          <p:nvPr/>
        </p:nvSpPr>
        <p:spPr>
          <a:xfrm>
            <a:off x="4434840" y="2048256"/>
            <a:ext cx="91440" cy="950976"/>
          </a:xfrm>
          <a:prstGeom prst="roundRect">
            <a:avLst>
              <a:gd name="adj" fmla="val 50000"/>
            </a:avLst>
          </a:prstGeom>
          <a:solidFill>
            <a:srgbClr val="5EA1FF"/>
          </a:solidFill>
          <a:ln/>
        </p:spPr>
      </p:sp>
      <p:sp>
        <p:nvSpPr>
          <p:cNvPr id="14" name="Text 12"/>
          <p:cNvSpPr/>
          <p:nvPr/>
        </p:nvSpPr>
        <p:spPr>
          <a:xfrm>
            <a:off x="4654296" y="1993392"/>
            <a:ext cx="3127248" cy="274320"/>
          </a:xfrm>
          <a:prstGeom prst="rect">
            <a:avLst/>
          </a:prstGeom>
          <a:noFill/>
          <a:ln/>
        </p:spPr>
        <p:txBody>
          <a:bodyPr wrap="square" lIns="0" tIns="0" rIns="0" bIns="0" rtlCol="0" anchor="ctr"/>
          <a:lstStyle/>
          <a:p>
            <a:pPr indent="0" marL="0">
              <a:buNone/>
            </a:pPr>
            <a:r>
              <a:rPr lang="en-US" sz="1250" b="1" dirty="0">
                <a:solidFill>
                  <a:srgbClr val="EAF2FF"/>
                </a:solidFill>
                <a:latin typeface="Arial" pitchFamily="34" charset="0"/>
                <a:ea typeface="Arial" pitchFamily="34" charset="-122"/>
                <a:cs typeface="Arial" pitchFamily="34" charset="-120"/>
              </a:rPr>
              <a:t>Linear OLS   </a:t>
            </a:r>
            <a:pPr indent="0" marL="0">
              <a:buNone/>
            </a:pPr>
            <a:r>
              <a:rPr lang="en-US" sz="1050" i="1" dirty="0">
                <a:solidFill>
                  <a:srgbClr val="5EA1FF"/>
                </a:solidFill>
                <a:latin typeface="Arial" pitchFamily="34" charset="0"/>
                <a:ea typeface="Arial" pitchFamily="34" charset="-122"/>
                <a:cs typeface="Arial" pitchFamily="34" charset="-120"/>
              </a:rPr>
              <a:t>Interpretability</a:t>
            </a:r>
            <a:endParaRPr lang="en-US" sz="1250" dirty="0"/>
          </a:p>
        </p:txBody>
      </p:sp>
      <p:sp>
        <p:nvSpPr>
          <p:cNvPr id="15" name="Text 13"/>
          <p:cNvSpPr/>
          <p:nvPr/>
        </p:nvSpPr>
        <p:spPr>
          <a:xfrm>
            <a:off x="4654296" y="2276856"/>
            <a:ext cx="3108960" cy="841248"/>
          </a:xfrm>
          <a:prstGeom prst="rect">
            <a:avLst/>
          </a:prstGeom>
          <a:noFill/>
          <a:ln/>
        </p:spPr>
        <p:txBody>
          <a:bodyPr wrap="square" lIns="0" tIns="0" rIns="0" bIns="0" rtlCol="0" anchor="ctr"/>
          <a:lstStyle/>
          <a:p>
            <a:pPr indent="0" marL="0">
              <a:buNone/>
            </a:pPr>
            <a:r>
              <a:rPr lang="en-US" sz="980" dirty="0">
                <a:solidFill>
                  <a:srgbClr val="9AA8C7"/>
                </a:solidFill>
                <a:latin typeface="Arial" pitchFamily="34" charset="0"/>
                <a:ea typeface="Arial" pitchFamily="34" charset="-122"/>
                <a:cs typeface="Arial" pitchFamily="34" charset="-120"/>
              </a:rPr>
              <a:t>The log-log regression planned in EDA. Its funding coefficient is an elasticity: the % change in valuation per 1% more funding.</a:t>
            </a:r>
            <a:endParaRPr lang="en-US" sz="980" dirty="0"/>
          </a:p>
        </p:txBody>
      </p:sp>
      <p:sp>
        <p:nvSpPr>
          <p:cNvPr id="16" name="Shape 14"/>
          <p:cNvSpPr/>
          <p:nvPr/>
        </p:nvSpPr>
        <p:spPr>
          <a:xfrm>
            <a:off x="8001000" y="1874520"/>
            <a:ext cx="3675888" cy="1298448"/>
          </a:xfrm>
          <a:prstGeom prst="roundRect">
            <a:avLst>
              <a:gd name="adj" fmla="val 6338"/>
            </a:avLst>
          </a:prstGeom>
          <a:solidFill>
            <a:srgbClr val="16203A"/>
          </a:solidFill>
          <a:ln w="12700">
            <a:solidFill>
              <a:srgbClr val="26395E"/>
            </a:solidFill>
            <a:prstDash val="solid"/>
          </a:ln>
        </p:spPr>
      </p:sp>
      <p:sp>
        <p:nvSpPr>
          <p:cNvPr id="17" name="Shape 15"/>
          <p:cNvSpPr/>
          <p:nvPr/>
        </p:nvSpPr>
        <p:spPr>
          <a:xfrm>
            <a:off x="8183880" y="2048256"/>
            <a:ext cx="91440" cy="950976"/>
          </a:xfrm>
          <a:prstGeom prst="roundRect">
            <a:avLst>
              <a:gd name="adj" fmla="val 50000"/>
            </a:avLst>
          </a:prstGeom>
          <a:solidFill>
            <a:srgbClr val="9C7BFF"/>
          </a:solidFill>
          <a:ln/>
        </p:spPr>
      </p:sp>
      <p:sp>
        <p:nvSpPr>
          <p:cNvPr id="18" name="Text 16"/>
          <p:cNvSpPr/>
          <p:nvPr/>
        </p:nvSpPr>
        <p:spPr>
          <a:xfrm>
            <a:off x="8403336" y="1993392"/>
            <a:ext cx="3127248" cy="274320"/>
          </a:xfrm>
          <a:prstGeom prst="rect">
            <a:avLst/>
          </a:prstGeom>
          <a:noFill/>
          <a:ln/>
        </p:spPr>
        <p:txBody>
          <a:bodyPr wrap="square" lIns="0" tIns="0" rIns="0" bIns="0" rtlCol="0" anchor="ctr"/>
          <a:lstStyle/>
          <a:p>
            <a:pPr indent="0" marL="0">
              <a:buNone/>
            </a:pPr>
            <a:r>
              <a:rPr lang="en-US" sz="1250" b="1" dirty="0">
                <a:solidFill>
                  <a:srgbClr val="EAF2FF"/>
                </a:solidFill>
                <a:latin typeface="Arial" pitchFamily="34" charset="0"/>
                <a:ea typeface="Arial" pitchFamily="34" charset="-122"/>
                <a:cs typeface="Arial" pitchFamily="34" charset="-120"/>
              </a:rPr>
              <a:t>Ridge &amp; Lasso   </a:t>
            </a:r>
            <a:pPr indent="0" marL="0">
              <a:buNone/>
            </a:pPr>
            <a:r>
              <a:rPr lang="en-US" sz="1050" i="1" dirty="0">
                <a:solidFill>
                  <a:srgbClr val="9C7BFF"/>
                </a:solidFill>
                <a:latin typeface="Arial" pitchFamily="34" charset="0"/>
                <a:ea typeface="Arial" pitchFamily="34" charset="-122"/>
                <a:cs typeface="Arial" pitchFamily="34" charset="-120"/>
              </a:rPr>
              <a:t>Stability</a:t>
            </a:r>
            <a:endParaRPr lang="en-US" sz="1250" dirty="0"/>
          </a:p>
        </p:txBody>
      </p:sp>
      <p:sp>
        <p:nvSpPr>
          <p:cNvPr id="19" name="Text 17"/>
          <p:cNvSpPr/>
          <p:nvPr/>
        </p:nvSpPr>
        <p:spPr>
          <a:xfrm>
            <a:off x="8403336" y="2276856"/>
            <a:ext cx="3108960" cy="841248"/>
          </a:xfrm>
          <a:prstGeom prst="rect">
            <a:avLst/>
          </a:prstGeom>
          <a:noFill/>
          <a:ln/>
        </p:spPr>
        <p:txBody>
          <a:bodyPr wrap="square" lIns="0" tIns="0" rIns="0" bIns="0" rtlCol="0" anchor="ctr"/>
          <a:lstStyle/>
          <a:p>
            <a:pPr indent="0" marL="0">
              <a:buNone/>
            </a:pPr>
            <a:r>
              <a:rPr lang="en-US" sz="980" dirty="0">
                <a:solidFill>
                  <a:srgbClr val="9AA8C7"/>
                </a:solidFill>
                <a:latin typeface="Arial" pitchFamily="34" charset="0"/>
                <a:ea typeface="Arial" pitchFamily="34" charset="-122"/>
                <a:cs typeface="Arial" pitchFamily="34" charset="-120"/>
              </a:rPr>
              <a:t>Regularization handles 20+ correlated one-hot columns; Lasso also zeroes weak features, acting as automatic feature selection.</a:t>
            </a:r>
            <a:endParaRPr lang="en-US" sz="980" dirty="0"/>
          </a:p>
        </p:txBody>
      </p:sp>
      <p:sp>
        <p:nvSpPr>
          <p:cNvPr id="20" name="Shape 18"/>
          <p:cNvSpPr/>
          <p:nvPr/>
        </p:nvSpPr>
        <p:spPr>
          <a:xfrm>
            <a:off x="502920" y="3319272"/>
            <a:ext cx="3675888" cy="1298448"/>
          </a:xfrm>
          <a:prstGeom prst="roundRect">
            <a:avLst>
              <a:gd name="adj" fmla="val 6338"/>
            </a:avLst>
          </a:prstGeom>
          <a:solidFill>
            <a:srgbClr val="16203A"/>
          </a:solidFill>
          <a:ln w="12700">
            <a:solidFill>
              <a:srgbClr val="26395E"/>
            </a:solidFill>
            <a:prstDash val="solid"/>
          </a:ln>
        </p:spPr>
      </p:sp>
      <p:sp>
        <p:nvSpPr>
          <p:cNvPr id="21" name="Shape 19"/>
          <p:cNvSpPr/>
          <p:nvPr/>
        </p:nvSpPr>
        <p:spPr>
          <a:xfrm>
            <a:off x="685800" y="3493008"/>
            <a:ext cx="91440" cy="950976"/>
          </a:xfrm>
          <a:prstGeom prst="roundRect">
            <a:avLst>
              <a:gd name="adj" fmla="val 50000"/>
            </a:avLst>
          </a:prstGeom>
          <a:solidFill>
            <a:srgbClr val="35E7C3"/>
          </a:solidFill>
          <a:ln/>
        </p:spPr>
      </p:sp>
      <p:sp>
        <p:nvSpPr>
          <p:cNvPr id="22" name="Text 20"/>
          <p:cNvSpPr/>
          <p:nvPr/>
        </p:nvSpPr>
        <p:spPr>
          <a:xfrm>
            <a:off x="905256" y="3438144"/>
            <a:ext cx="3127248" cy="274320"/>
          </a:xfrm>
          <a:prstGeom prst="rect">
            <a:avLst/>
          </a:prstGeom>
          <a:noFill/>
          <a:ln/>
        </p:spPr>
        <p:txBody>
          <a:bodyPr wrap="square" lIns="0" tIns="0" rIns="0" bIns="0" rtlCol="0" anchor="ctr"/>
          <a:lstStyle/>
          <a:p>
            <a:pPr indent="0" marL="0">
              <a:buNone/>
            </a:pPr>
            <a:r>
              <a:rPr lang="en-US" sz="1250" b="1" dirty="0">
                <a:solidFill>
                  <a:srgbClr val="EAF2FF"/>
                </a:solidFill>
                <a:latin typeface="Arial" pitchFamily="34" charset="0"/>
                <a:ea typeface="Arial" pitchFamily="34" charset="-122"/>
                <a:cs typeface="Arial" pitchFamily="34" charset="-120"/>
              </a:rPr>
              <a:t>KNN   </a:t>
            </a:r>
            <a:pPr indent="0" marL="0">
              <a:buNone/>
            </a:pPr>
            <a:r>
              <a:rPr lang="en-US" sz="1050" i="1" dirty="0">
                <a:solidFill>
                  <a:srgbClr val="35E7C3"/>
                </a:solidFill>
                <a:latin typeface="Arial" pitchFamily="34" charset="0"/>
                <a:ea typeface="Arial" pitchFamily="34" charset="-122"/>
                <a:cs typeface="Arial" pitchFamily="34" charset="-120"/>
              </a:rPr>
              <a:t>Local structure</a:t>
            </a:r>
            <a:endParaRPr lang="en-US" sz="1250" dirty="0"/>
          </a:p>
        </p:txBody>
      </p:sp>
      <p:sp>
        <p:nvSpPr>
          <p:cNvPr id="23" name="Text 21"/>
          <p:cNvSpPr/>
          <p:nvPr/>
        </p:nvSpPr>
        <p:spPr>
          <a:xfrm>
            <a:off x="905256" y="3721608"/>
            <a:ext cx="3108960" cy="841248"/>
          </a:xfrm>
          <a:prstGeom prst="rect">
            <a:avLst/>
          </a:prstGeom>
          <a:noFill/>
          <a:ln/>
        </p:spPr>
        <p:txBody>
          <a:bodyPr wrap="square" lIns="0" tIns="0" rIns="0" bIns="0" rtlCol="0" anchor="ctr"/>
          <a:lstStyle/>
          <a:p>
            <a:pPr indent="0" marL="0">
              <a:buNone/>
            </a:pPr>
            <a:r>
              <a:rPr lang="en-US" sz="980" dirty="0">
                <a:solidFill>
                  <a:srgbClr val="9AA8C7"/>
                </a:solidFill>
                <a:latin typeface="Arial" pitchFamily="34" charset="0"/>
                <a:ea typeface="Arial" pitchFamily="34" charset="-122"/>
                <a:cs typeface="Arial" pitchFamily="34" charset="-120"/>
              </a:rPr>
              <a:t>Nonparametric check: predicts from the most similar unicorns, with no functional form assumed.</a:t>
            </a:r>
            <a:endParaRPr lang="en-US" sz="980" dirty="0"/>
          </a:p>
        </p:txBody>
      </p:sp>
      <p:sp>
        <p:nvSpPr>
          <p:cNvPr id="24" name="Shape 22"/>
          <p:cNvSpPr/>
          <p:nvPr/>
        </p:nvSpPr>
        <p:spPr>
          <a:xfrm>
            <a:off x="4251960" y="3319272"/>
            <a:ext cx="3675888" cy="1298448"/>
          </a:xfrm>
          <a:prstGeom prst="roundRect">
            <a:avLst>
              <a:gd name="adj" fmla="val 6338"/>
            </a:avLst>
          </a:prstGeom>
          <a:solidFill>
            <a:srgbClr val="16203A"/>
          </a:solidFill>
          <a:ln w="12700">
            <a:solidFill>
              <a:srgbClr val="26395E"/>
            </a:solidFill>
            <a:prstDash val="solid"/>
          </a:ln>
        </p:spPr>
      </p:sp>
      <p:sp>
        <p:nvSpPr>
          <p:cNvPr id="25" name="Shape 23"/>
          <p:cNvSpPr/>
          <p:nvPr/>
        </p:nvSpPr>
        <p:spPr>
          <a:xfrm>
            <a:off x="4434840" y="3493008"/>
            <a:ext cx="91440" cy="950976"/>
          </a:xfrm>
          <a:prstGeom prst="roundRect">
            <a:avLst>
              <a:gd name="adj" fmla="val 50000"/>
            </a:avLst>
          </a:prstGeom>
          <a:solidFill>
            <a:srgbClr val="FFBE55"/>
          </a:solidFill>
          <a:ln/>
        </p:spPr>
      </p:sp>
      <p:sp>
        <p:nvSpPr>
          <p:cNvPr id="26" name="Text 24"/>
          <p:cNvSpPr/>
          <p:nvPr/>
        </p:nvSpPr>
        <p:spPr>
          <a:xfrm>
            <a:off x="4654296" y="3438144"/>
            <a:ext cx="3127248" cy="274320"/>
          </a:xfrm>
          <a:prstGeom prst="rect">
            <a:avLst/>
          </a:prstGeom>
          <a:noFill/>
          <a:ln/>
        </p:spPr>
        <p:txBody>
          <a:bodyPr wrap="square" lIns="0" tIns="0" rIns="0" bIns="0" rtlCol="0" anchor="ctr"/>
          <a:lstStyle/>
          <a:p>
            <a:pPr indent="0" marL="0">
              <a:buNone/>
            </a:pPr>
            <a:r>
              <a:rPr lang="en-US" sz="1250" b="1" dirty="0">
                <a:solidFill>
                  <a:srgbClr val="EAF2FF"/>
                </a:solidFill>
                <a:latin typeface="Arial" pitchFamily="34" charset="0"/>
                <a:ea typeface="Arial" pitchFamily="34" charset="-122"/>
                <a:cs typeface="Arial" pitchFamily="34" charset="-120"/>
              </a:rPr>
              <a:t>Random Forest   </a:t>
            </a:r>
            <a:pPr indent="0" marL="0">
              <a:buNone/>
            </a:pPr>
            <a:r>
              <a:rPr lang="en-US" sz="1050" i="1" dirty="0">
                <a:solidFill>
                  <a:srgbClr val="FFBE55"/>
                </a:solidFill>
                <a:latin typeface="Arial" pitchFamily="34" charset="0"/>
                <a:ea typeface="Arial" pitchFamily="34" charset="-122"/>
                <a:cs typeface="Arial" pitchFamily="34" charset="-120"/>
              </a:rPr>
              <a:t>Nonlinearity</a:t>
            </a:r>
            <a:endParaRPr lang="en-US" sz="1250" dirty="0"/>
          </a:p>
        </p:txBody>
      </p:sp>
      <p:sp>
        <p:nvSpPr>
          <p:cNvPr id="27" name="Text 25"/>
          <p:cNvSpPr/>
          <p:nvPr/>
        </p:nvSpPr>
        <p:spPr>
          <a:xfrm>
            <a:off x="4654296" y="3721608"/>
            <a:ext cx="3108960" cy="841248"/>
          </a:xfrm>
          <a:prstGeom prst="rect">
            <a:avLst/>
          </a:prstGeom>
          <a:noFill/>
          <a:ln/>
        </p:spPr>
        <p:txBody>
          <a:bodyPr wrap="square" lIns="0" tIns="0" rIns="0" bIns="0" rtlCol="0" anchor="ctr"/>
          <a:lstStyle/>
          <a:p>
            <a:pPr indent="0" marL="0">
              <a:buNone/>
            </a:pPr>
            <a:r>
              <a:rPr lang="en-US" sz="980" dirty="0">
                <a:solidFill>
                  <a:srgbClr val="9AA8C7"/>
                </a:solidFill>
                <a:latin typeface="Arial" pitchFamily="34" charset="0"/>
                <a:ea typeface="Arial" pitchFamily="34" charset="-122"/>
                <a:cs typeface="Arial" pitchFamily="34" charset="-120"/>
              </a:rPr>
              <a:t>Bagged trees capture sector-by-funding interactions and thresholds that linear models miss.</a:t>
            </a:r>
            <a:endParaRPr lang="en-US" sz="980" dirty="0"/>
          </a:p>
        </p:txBody>
      </p:sp>
      <p:sp>
        <p:nvSpPr>
          <p:cNvPr id="28" name="Shape 26"/>
          <p:cNvSpPr/>
          <p:nvPr/>
        </p:nvSpPr>
        <p:spPr>
          <a:xfrm>
            <a:off x="8001000" y="3319272"/>
            <a:ext cx="3675888" cy="1298448"/>
          </a:xfrm>
          <a:prstGeom prst="roundRect">
            <a:avLst>
              <a:gd name="adj" fmla="val 6338"/>
            </a:avLst>
          </a:prstGeom>
          <a:solidFill>
            <a:srgbClr val="16203A"/>
          </a:solidFill>
          <a:ln w="12700">
            <a:solidFill>
              <a:srgbClr val="26395E"/>
            </a:solidFill>
            <a:prstDash val="solid"/>
          </a:ln>
        </p:spPr>
      </p:sp>
      <p:sp>
        <p:nvSpPr>
          <p:cNvPr id="29" name="Shape 27"/>
          <p:cNvSpPr/>
          <p:nvPr/>
        </p:nvSpPr>
        <p:spPr>
          <a:xfrm>
            <a:off x="8183880" y="3493008"/>
            <a:ext cx="91440" cy="950976"/>
          </a:xfrm>
          <a:prstGeom prst="roundRect">
            <a:avLst>
              <a:gd name="adj" fmla="val 50000"/>
            </a:avLst>
          </a:prstGeom>
          <a:solidFill>
            <a:srgbClr val="FF6B7A"/>
          </a:solidFill>
          <a:ln/>
        </p:spPr>
      </p:sp>
      <p:sp>
        <p:nvSpPr>
          <p:cNvPr id="30" name="Text 28"/>
          <p:cNvSpPr/>
          <p:nvPr/>
        </p:nvSpPr>
        <p:spPr>
          <a:xfrm>
            <a:off x="8403336" y="3438144"/>
            <a:ext cx="3127248" cy="274320"/>
          </a:xfrm>
          <a:prstGeom prst="rect">
            <a:avLst/>
          </a:prstGeom>
          <a:noFill/>
          <a:ln/>
        </p:spPr>
        <p:txBody>
          <a:bodyPr wrap="square" lIns="0" tIns="0" rIns="0" bIns="0" rtlCol="0" anchor="ctr"/>
          <a:lstStyle/>
          <a:p>
            <a:pPr indent="0" marL="0">
              <a:buNone/>
            </a:pPr>
            <a:r>
              <a:rPr lang="en-US" sz="1250" b="1" dirty="0">
                <a:solidFill>
                  <a:srgbClr val="EAF2FF"/>
                </a:solidFill>
                <a:latin typeface="Arial" pitchFamily="34" charset="0"/>
                <a:ea typeface="Arial" pitchFamily="34" charset="-122"/>
                <a:cs typeface="Arial" pitchFamily="34" charset="-120"/>
              </a:rPr>
              <a:t>Gradient Boosting   </a:t>
            </a:r>
            <a:pPr indent="0" marL="0">
              <a:buNone/>
            </a:pPr>
            <a:r>
              <a:rPr lang="en-US" sz="1050" i="1" dirty="0">
                <a:solidFill>
                  <a:srgbClr val="FF6B7A"/>
                </a:solidFill>
                <a:latin typeface="Arial" pitchFamily="34" charset="0"/>
                <a:ea typeface="Arial" pitchFamily="34" charset="-122"/>
                <a:cs typeface="Arial" pitchFamily="34" charset="-120"/>
              </a:rPr>
              <a:t>Champion candidate</a:t>
            </a:r>
            <a:endParaRPr lang="en-US" sz="1250" dirty="0"/>
          </a:p>
        </p:txBody>
      </p:sp>
      <p:sp>
        <p:nvSpPr>
          <p:cNvPr id="31" name="Text 29"/>
          <p:cNvSpPr/>
          <p:nvPr/>
        </p:nvSpPr>
        <p:spPr>
          <a:xfrm>
            <a:off x="8403336" y="3721608"/>
            <a:ext cx="3108960" cy="841248"/>
          </a:xfrm>
          <a:prstGeom prst="rect">
            <a:avLst/>
          </a:prstGeom>
          <a:noFill/>
          <a:ln/>
        </p:spPr>
        <p:txBody>
          <a:bodyPr wrap="square" lIns="0" tIns="0" rIns="0" bIns="0" rtlCol="0" anchor="ctr"/>
          <a:lstStyle/>
          <a:p>
            <a:pPr indent="0" marL="0">
              <a:buNone/>
            </a:pPr>
            <a:r>
              <a:rPr lang="en-US" sz="980" dirty="0">
                <a:solidFill>
                  <a:srgbClr val="9AA8C7"/>
                </a:solidFill>
                <a:latin typeface="Arial" pitchFamily="34" charset="0"/>
                <a:ea typeface="Arial" pitchFamily="34" charset="-122"/>
                <a:cs typeface="Arial" pitchFamily="34" charset="-120"/>
              </a:rPr>
              <a:t>Sequential shallow trees, strongest expected fit on tabular data of this size; still explainable via permutation importance.</a:t>
            </a:r>
            <a:endParaRPr lang="en-US" sz="980" dirty="0"/>
          </a:p>
        </p:txBody>
      </p:sp>
      <p:sp>
        <p:nvSpPr>
          <p:cNvPr id="32" name="Shape 30"/>
          <p:cNvSpPr/>
          <p:nvPr/>
        </p:nvSpPr>
        <p:spPr>
          <a:xfrm>
            <a:off x="502920" y="4956048"/>
            <a:ext cx="11183112" cy="1188720"/>
          </a:xfrm>
          <a:prstGeom prst="roundRect">
            <a:avLst>
              <a:gd name="adj" fmla="val 6923"/>
            </a:avLst>
          </a:prstGeom>
          <a:solidFill>
            <a:srgbClr val="111A2E"/>
          </a:solidFill>
          <a:ln w="12700">
            <a:solidFill>
              <a:srgbClr val="26395E"/>
            </a:solidFill>
            <a:prstDash val="solid"/>
          </a:ln>
        </p:spPr>
      </p:sp>
      <p:sp>
        <p:nvSpPr>
          <p:cNvPr id="33" name="Text 31"/>
          <p:cNvSpPr/>
          <p:nvPr/>
        </p:nvSpPr>
        <p:spPr>
          <a:xfrm>
            <a:off x="777240" y="5102352"/>
            <a:ext cx="10607040" cy="274320"/>
          </a:xfrm>
          <a:prstGeom prst="rect">
            <a:avLst/>
          </a:prstGeom>
          <a:noFill/>
          <a:ln/>
        </p:spPr>
        <p:txBody>
          <a:bodyPr wrap="square" lIns="0" tIns="0" rIns="0" bIns="0" rtlCol="0" anchor="ctr"/>
          <a:lstStyle/>
          <a:p>
            <a:pPr indent="0" marL="0">
              <a:buNone/>
            </a:pPr>
            <a:r>
              <a:rPr lang="en-US" sz="1300" b="1" dirty="0">
                <a:solidFill>
                  <a:srgbClr val="5EA1FF"/>
                </a:solidFill>
                <a:latin typeface="Arial" pitchFamily="34" charset="0"/>
                <a:ea typeface="Arial" pitchFamily="34" charset="-122"/>
                <a:cs typeface="Arial" pitchFamily="34" charset="-120"/>
              </a:rPr>
              <a:t>Selection logic</a:t>
            </a:r>
            <a:endParaRPr lang="en-US" sz="1300" dirty="0"/>
          </a:p>
        </p:txBody>
      </p:sp>
      <p:sp>
        <p:nvSpPr>
          <p:cNvPr id="34" name="Text 32"/>
          <p:cNvSpPr/>
          <p:nvPr/>
        </p:nvSpPr>
        <p:spPr>
          <a:xfrm>
            <a:off x="777240" y="5394960"/>
            <a:ext cx="10652760" cy="685800"/>
          </a:xfrm>
          <a:prstGeom prst="rect">
            <a:avLst/>
          </a:prstGeom>
          <a:noFill/>
          <a:ln/>
        </p:spPr>
        <p:txBody>
          <a:bodyPr wrap="square" lIns="0" tIns="0" rIns="0" bIns="0" rtlCol="0" anchor="ctr"/>
          <a:lstStyle/>
          <a:p>
            <a:pPr indent="0" marL="0">
              <a:buNone/>
            </a:pPr>
            <a:r>
              <a:rPr lang="en-US" sz="1100" dirty="0">
                <a:solidFill>
                  <a:srgbClr val="9AA8C7"/>
                </a:solidFill>
                <a:latin typeface="Arial" pitchFamily="34" charset="0"/>
                <a:ea typeface="Arial" pitchFamily="34" charset="-122"/>
                <a:cs typeface="Arial" pitchFamily="34" charset="-120"/>
              </a:rPr>
              <a:t>EDA showed a skewed target, strong sector and geography segmentation, and a suspected nonlinear funding relationship. That points to tree ensembles for accuracy, while the linear family is kept as the interpretability companion whose coefficients VC Scout can explain to users. KNN and the baseline guard against overclaiming: if a simple method matched the ensembles, the extra complexity would not be justified.</a:t>
            </a:r>
            <a:endParaRPr lang="en-US" sz="1100" dirty="0"/>
          </a:p>
        </p:txBody>
      </p:sp>
      <p:sp>
        <p:nvSpPr>
          <p:cNvPr id="35" name="Text 33"/>
          <p:cNvSpPr/>
          <p:nvPr/>
        </p:nvSpPr>
        <p:spPr>
          <a:xfrm>
            <a:off x="502920" y="6473952"/>
            <a:ext cx="8686800" cy="274320"/>
          </a:xfrm>
          <a:prstGeom prst="rect">
            <a:avLst/>
          </a:prstGeom>
          <a:noFill/>
          <a:ln/>
        </p:spPr>
        <p:txBody>
          <a:bodyPr wrap="square" lIns="0" tIns="0" rIns="0" bIns="0" rtlCol="0" anchor="ctr"/>
          <a:lstStyle/>
          <a:p>
            <a:pPr algn="l" indent="0" marL="0">
              <a:buNone/>
            </a:pPr>
            <a:r>
              <a:rPr lang="en-US" sz="900" b="1" dirty="0">
                <a:solidFill>
                  <a:srgbClr val="EAF2FF"/>
                </a:solidFill>
                <a:latin typeface="Arial" pitchFamily="34" charset="0"/>
                <a:ea typeface="Arial" pitchFamily="34" charset="-122"/>
                <a:cs typeface="Arial" pitchFamily="34" charset="-120"/>
              </a:rPr>
              <a:t>Team 17</a:t>
            </a:r>
            <a:pPr algn="l" indent="0" marL="0">
              <a:buNone/>
            </a:pPr>
            <a:r>
              <a:rPr lang="en-US" sz="900" dirty="0">
                <a:solidFill>
                  <a:srgbClr val="9AA8C7"/>
                </a:solidFill>
                <a:latin typeface="Arial" pitchFamily="34" charset="0"/>
                <a:ea typeface="Arial" pitchFamily="34" charset="-122"/>
                <a:cs typeface="Arial" pitchFamily="34" charset="-120"/>
              </a:rPr>
              <a:t>   |   Startup Growth &amp; Investment   |   Model Definition &amp; Initial Results</a:t>
            </a:r>
            <a:endParaRPr lang="en-US" sz="900" dirty="0"/>
          </a:p>
        </p:txBody>
      </p:sp>
      <p:sp>
        <p:nvSpPr>
          <p:cNvPr id="36" name="Text 34"/>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900" dirty="0">
                <a:solidFill>
                  <a:srgbClr val="9AA8C7"/>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020"/>
        </a:solidFill>
      </p:bgPr>
    </p:bg>
    <p:spTree>
      <p:nvGrpSpPr>
        <p:cNvPr id="1" name=""/>
        <p:cNvGrpSpPr/>
        <p:nvPr/>
      </p:nvGrpSpPr>
      <p:grpSpPr>
        <a:xfrm>
          <a:off x="0" y="0"/>
          <a:ext cx="0" cy="0"/>
          <a:chOff x="0" y="0"/>
          <a:chExt cx="0" cy="0"/>
        </a:xfrm>
      </p:grpSpPr>
      <p:sp>
        <p:nvSpPr>
          <p:cNvPr id="2" name="Shape 0"/>
          <p:cNvSpPr/>
          <p:nvPr/>
        </p:nvSpPr>
        <p:spPr>
          <a:xfrm>
            <a:off x="9966960" y="4663440"/>
            <a:ext cx="4937760" cy="4206240"/>
          </a:xfrm>
          <a:prstGeom prst="ellipse">
            <a:avLst/>
          </a:prstGeom>
          <a:solidFill>
            <a:srgbClr val="133B5C">
              <a:alpha val="70000"/>
            </a:srgbClr>
          </a:solidFill>
          <a:ln/>
        </p:spPr>
      </p:sp>
      <p:sp>
        <p:nvSpPr>
          <p:cNvPr id="3" name="Shape 1"/>
          <p:cNvSpPr/>
          <p:nvPr/>
        </p:nvSpPr>
        <p:spPr>
          <a:xfrm>
            <a:off x="-2377440" y="-2194560"/>
            <a:ext cx="5120640" cy="4389120"/>
          </a:xfrm>
          <a:prstGeom prst="ellipse">
            <a:avLst/>
          </a:prstGeom>
          <a:solidFill>
            <a:srgbClr val="35275D">
              <a:alpha val="62000"/>
            </a:srgbClr>
          </a:solidFill>
          <a:ln/>
        </p:spPr>
      </p:sp>
      <p:sp>
        <p:nvSpPr>
          <p:cNvPr id="4" name="Shape 2"/>
          <p:cNvSpPr/>
          <p:nvPr/>
        </p:nvSpPr>
        <p:spPr>
          <a:xfrm>
            <a:off x="502920" y="384048"/>
            <a:ext cx="1856232" cy="310896"/>
          </a:xfrm>
          <a:prstGeom prst="roundRect">
            <a:avLst>
              <a:gd name="adj" fmla="val 50000"/>
            </a:avLst>
          </a:prstGeom>
          <a:solidFill>
            <a:srgbClr val="FFBE55"/>
          </a:solidFill>
          <a:ln/>
        </p:spPr>
      </p:sp>
      <p:sp>
        <p:nvSpPr>
          <p:cNvPr id="5" name="Text 3"/>
          <p:cNvSpPr/>
          <p:nvPr/>
        </p:nvSpPr>
        <p:spPr>
          <a:xfrm>
            <a:off x="502920" y="384048"/>
            <a:ext cx="1856232" cy="310896"/>
          </a:xfrm>
          <a:prstGeom prst="rect">
            <a:avLst/>
          </a:prstGeom>
          <a:noFill/>
          <a:ln/>
        </p:spPr>
        <p:txBody>
          <a:bodyPr wrap="none" lIns="0" tIns="0" rIns="0" bIns="0" rtlCol="0" anchor="ctr"/>
          <a:lstStyle/>
          <a:p>
            <a:pPr algn="ctr" indent="0" marL="0">
              <a:buNone/>
            </a:pPr>
            <a:r>
              <a:rPr lang="en-US" sz="1050" b="1" spc="100" kern="0" dirty="0">
                <a:solidFill>
                  <a:srgbClr val="0A1020"/>
                </a:solidFill>
                <a:latin typeface="Arial" pitchFamily="34" charset="0"/>
                <a:ea typeface="Arial" pitchFamily="34" charset="-122"/>
                <a:cs typeface="Arial" pitchFamily="34" charset="-120"/>
              </a:rPr>
              <a:t>IMPLEMENTATION</a:t>
            </a:r>
            <a:endParaRPr lang="en-US" sz="1050" dirty="0"/>
          </a:p>
        </p:txBody>
      </p:sp>
      <p:sp>
        <p:nvSpPr>
          <p:cNvPr id="6" name="Text 4"/>
          <p:cNvSpPr/>
          <p:nvPr/>
        </p:nvSpPr>
        <p:spPr>
          <a:xfrm>
            <a:off x="502920" y="749808"/>
            <a:ext cx="11155680" cy="566928"/>
          </a:xfrm>
          <a:prstGeom prst="rect">
            <a:avLst/>
          </a:prstGeom>
          <a:noFill/>
          <a:ln/>
        </p:spPr>
        <p:txBody>
          <a:bodyPr wrap="square" lIns="0" tIns="0" rIns="0" bIns="0" rtlCol="0" anchor="ctr"/>
          <a:lstStyle/>
          <a:p>
            <a:pPr indent="0" marL="0">
              <a:buNone/>
            </a:pPr>
            <a:r>
              <a:rPr lang="en-US" sz="2700" b="1" dirty="0">
                <a:solidFill>
                  <a:srgbClr val="EAF2FF"/>
                </a:solidFill>
                <a:latin typeface="Arial" pitchFamily="34" charset="0"/>
                <a:ea typeface="Arial" pitchFamily="34" charset="-122"/>
                <a:cs typeface="Arial" pitchFamily="34" charset="-120"/>
              </a:rPr>
              <a:t>How the models are built: split, tune, validate</a:t>
            </a:r>
            <a:endParaRPr lang="en-US" sz="2700" dirty="0"/>
          </a:p>
        </p:txBody>
      </p:sp>
      <p:sp>
        <p:nvSpPr>
          <p:cNvPr id="7" name="Text 5"/>
          <p:cNvSpPr/>
          <p:nvPr/>
        </p:nvSpPr>
        <p:spPr>
          <a:xfrm>
            <a:off x="502920" y="1316736"/>
            <a:ext cx="11155680" cy="310896"/>
          </a:xfrm>
          <a:prstGeom prst="rect">
            <a:avLst/>
          </a:prstGeom>
          <a:noFill/>
          <a:ln/>
        </p:spPr>
        <p:txBody>
          <a:bodyPr wrap="square" lIns="0" tIns="0" rIns="0" bIns="0" rtlCol="0" anchor="ctr"/>
          <a:lstStyle/>
          <a:p>
            <a:pPr indent="0" marL="0">
              <a:buNone/>
            </a:pPr>
            <a:r>
              <a:rPr lang="en-US" sz="1250" i="1" dirty="0">
                <a:solidFill>
                  <a:srgbClr val="9AA8C7"/>
                </a:solidFill>
                <a:latin typeface="Arial" pitchFamily="34" charset="0"/>
                <a:ea typeface="Arial" pitchFamily="34" charset="-122"/>
                <a:cs typeface="Arial" pitchFamily="34" charset="-120"/>
              </a:rPr>
              <a:t>One leakage-safe pipeline per model; every hyperparameter is chosen by cross validation, never by peeking at the test set.</a:t>
            </a:r>
            <a:endParaRPr lang="en-US" sz="1250" dirty="0"/>
          </a:p>
        </p:txBody>
      </p:sp>
      <p:sp>
        <p:nvSpPr>
          <p:cNvPr id="8" name="Shape 6"/>
          <p:cNvSpPr/>
          <p:nvPr/>
        </p:nvSpPr>
        <p:spPr>
          <a:xfrm>
            <a:off x="502920" y="1847088"/>
            <a:ext cx="2084832" cy="896112"/>
          </a:xfrm>
          <a:prstGeom prst="roundRect">
            <a:avLst>
              <a:gd name="adj" fmla="val 9184"/>
            </a:avLst>
          </a:prstGeom>
          <a:solidFill>
            <a:srgbClr val="16203A"/>
          </a:solidFill>
          <a:ln w="12700">
            <a:solidFill>
              <a:srgbClr val="26395E"/>
            </a:solidFill>
            <a:prstDash val="solid"/>
          </a:ln>
        </p:spPr>
      </p:sp>
      <p:sp>
        <p:nvSpPr>
          <p:cNvPr id="9" name="Text 7"/>
          <p:cNvSpPr/>
          <p:nvPr/>
        </p:nvSpPr>
        <p:spPr>
          <a:xfrm>
            <a:off x="630936" y="1956816"/>
            <a:ext cx="1828800" cy="274320"/>
          </a:xfrm>
          <a:prstGeom prst="rect">
            <a:avLst/>
          </a:prstGeom>
          <a:noFill/>
          <a:ln/>
        </p:spPr>
        <p:txBody>
          <a:bodyPr wrap="square" lIns="0" tIns="0" rIns="0" bIns="0" rtlCol="0" anchor="ctr"/>
          <a:lstStyle/>
          <a:p>
            <a:pPr indent="0" marL="0">
              <a:buNone/>
            </a:pPr>
            <a:r>
              <a:rPr lang="en-US" sz="1150" b="1" dirty="0">
                <a:solidFill>
                  <a:srgbClr val="35E7C3"/>
                </a:solidFill>
                <a:latin typeface="Arial" pitchFamily="34" charset="0"/>
                <a:ea typeface="Arial" pitchFamily="34" charset="-122"/>
                <a:cs typeface="Arial" pitchFamily="34" charset="-120"/>
              </a:rPr>
              <a:t>Clean + engineer</a:t>
            </a:r>
            <a:endParaRPr lang="en-US" sz="1150" dirty="0"/>
          </a:p>
        </p:txBody>
      </p:sp>
      <p:sp>
        <p:nvSpPr>
          <p:cNvPr id="10" name="Text 8"/>
          <p:cNvSpPr/>
          <p:nvPr/>
        </p:nvSpPr>
        <p:spPr>
          <a:xfrm>
            <a:off x="630936" y="2249424"/>
            <a:ext cx="1828800" cy="457200"/>
          </a:xfrm>
          <a:prstGeom prst="rect">
            <a:avLst/>
          </a:prstGeom>
          <a:noFill/>
          <a:ln/>
        </p:spPr>
        <p:txBody>
          <a:bodyPr wrap="square" lIns="0" tIns="0" rIns="0" bIns="0" rtlCol="0" anchor="ctr"/>
          <a:lstStyle/>
          <a:p>
            <a:pPr indent="0" marL="0">
              <a:buNone/>
            </a:pPr>
            <a:r>
              <a:rPr lang="en-US" sz="950" dirty="0">
                <a:solidFill>
                  <a:srgbClr val="9AA8C7"/>
                </a:solidFill>
                <a:latin typeface="Arial" pitchFamily="34" charset="0"/>
                <a:ea typeface="Arial" pitchFamily="34" charset="-122"/>
                <a:cs typeface="Arial" pitchFamily="34" charset="-120"/>
              </a:rPr>
              <a:t>1,074 raw rows to 1,060 modeled</a:t>
            </a:r>
            <a:endParaRPr lang="en-US" sz="950" dirty="0"/>
          </a:p>
        </p:txBody>
      </p:sp>
      <p:sp>
        <p:nvSpPr>
          <p:cNvPr id="11" name="Text 9"/>
          <p:cNvSpPr/>
          <p:nvPr/>
        </p:nvSpPr>
        <p:spPr>
          <a:xfrm>
            <a:off x="2587752" y="2121408"/>
            <a:ext cx="228600" cy="365760"/>
          </a:xfrm>
          <a:prstGeom prst="rect">
            <a:avLst/>
          </a:prstGeom>
          <a:noFill/>
          <a:ln/>
        </p:spPr>
        <p:txBody>
          <a:bodyPr wrap="square" lIns="0" tIns="0" rIns="0" bIns="0" rtlCol="0" anchor="ctr"/>
          <a:lstStyle/>
          <a:p>
            <a:pPr algn="ctr" indent="0" marL="0">
              <a:buNone/>
            </a:pPr>
            <a:r>
              <a:rPr lang="en-US" sz="1500" b="1" dirty="0">
                <a:solidFill>
                  <a:srgbClr val="9AA8C7"/>
                </a:solidFill>
                <a:latin typeface="Arial" pitchFamily="34" charset="0"/>
                <a:ea typeface="Arial" pitchFamily="34" charset="-122"/>
                <a:cs typeface="Arial" pitchFamily="34" charset="-120"/>
              </a:rPr>
              <a:t>→</a:t>
            </a:r>
            <a:endParaRPr lang="en-US" sz="1500" dirty="0"/>
          </a:p>
        </p:txBody>
      </p:sp>
      <p:sp>
        <p:nvSpPr>
          <p:cNvPr id="12" name="Shape 10"/>
          <p:cNvSpPr/>
          <p:nvPr/>
        </p:nvSpPr>
        <p:spPr>
          <a:xfrm>
            <a:off x="2798064" y="1847088"/>
            <a:ext cx="2084832" cy="896112"/>
          </a:xfrm>
          <a:prstGeom prst="roundRect">
            <a:avLst>
              <a:gd name="adj" fmla="val 9184"/>
            </a:avLst>
          </a:prstGeom>
          <a:solidFill>
            <a:srgbClr val="16203A"/>
          </a:solidFill>
          <a:ln w="12700">
            <a:solidFill>
              <a:srgbClr val="26395E"/>
            </a:solidFill>
            <a:prstDash val="solid"/>
          </a:ln>
        </p:spPr>
      </p:sp>
      <p:sp>
        <p:nvSpPr>
          <p:cNvPr id="13" name="Text 11"/>
          <p:cNvSpPr/>
          <p:nvPr/>
        </p:nvSpPr>
        <p:spPr>
          <a:xfrm>
            <a:off x="2926080" y="1956816"/>
            <a:ext cx="1828800" cy="274320"/>
          </a:xfrm>
          <a:prstGeom prst="rect">
            <a:avLst/>
          </a:prstGeom>
          <a:noFill/>
          <a:ln/>
        </p:spPr>
        <p:txBody>
          <a:bodyPr wrap="square" lIns="0" tIns="0" rIns="0" bIns="0" rtlCol="0" anchor="ctr"/>
          <a:lstStyle/>
          <a:p>
            <a:pPr indent="0" marL="0">
              <a:buNone/>
            </a:pPr>
            <a:r>
              <a:rPr lang="en-US" sz="1150" b="1" dirty="0">
                <a:solidFill>
                  <a:srgbClr val="5EA1FF"/>
                </a:solidFill>
                <a:latin typeface="Arial" pitchFamily="34" charset="0"/>
                <a:ea typeface="Arial" pitchFamily="34" charset="-122"/>
                <a:cs typeface="Arial" pitchFamily="34" charset="-120"/>
              </a:rPr>
              <a:t>Split 80/20</a:t>
            </a:r>
            <a:endParaRPr lang="en-US" sz="1150" dirty="0"/>
          </a:p>
        </p:txBody>
      </p:sp>
      <p:sp>
        <p:nvSpPr>
          <p:cNvPr id="14" name="Text 12"/>
          <p:cNvSpPr/>
          <p:nvPr/>
        </p:nvSpPr>
        <p:spPr>
          <a:xfrm>
            <a:off x="2926080" y="2249424"/>
            <a:ext cx="1828800" cy="457200"/>
          </a:xfrm>
          <a:prstGeom prst="rect">
            <a:avLst/>
          </a:prstGeom>
          <a:noFill/>
          <a:ln/>
        </p:spPr>
        <p:txBody>
          <a:bodyPr wrap="square" lIns="0" tIns="0" rIns="0" bIns="0" rtlCol="0" anchor="ctr"/>
          <a:lstStyle/>
          <a:p>
            <a:pPr indent="0" marL="0">
              <a:buNone/>
            </a:pPr>
            <a:r>
              <a:rPr lang="en-US" sz="950" dirty="0">
                <a:solidFill>
                  <a:srgbClr val="9AA8C7"/>
                </a:solidFill>
                <a:latin typeface="Arial" pitchFamily="34" charset="0"/>
                <a:ea typeface="Arial" pitchFamily="34" charset="-122"/>
                <a:cs typeface="Arial" pitchFamily="34" charset="-120"/>
              </a:rPr>
              <a:t>848 train / 212 held-out test</a:t>
            </a:r>
            <a:endParaRPr lang="en-US" sz="950" dirty="0"/>
          </a:p>
        </p:txBody>
      </p:sp>
      <p:sp>
        <p:nvSpPr>
          <p:cNvPr id="15" name="Text 13"/>
          <p:cNvSpPr/>
          <p:nvPr/>
        </p:nvSpPr>
        <p:spPr>
          <a:xfrm>
            <a:off x="4882896" y="2121408"/>
            <a:ext cx="228600" cy="365760"/>
          </a:xfrm>
          <a:prstGeom prst="rect">
            <a:avLst/>
          </a:prstGeom>
          <a:noFill/>
          <a:ln/>
        </p:spPr>
        <p:txBody>
          <a:bodyPr wrap="square" lIns="0" tIns="0" rIns="0" bIns="0" rtlCol="0" anchor="ctr"/>
          <a:lstStyle/>
          <a:p>
            <a:pPr algn="ctr" indent="0" marL="0">
              <a:buNone/>
            </a:pPr>
            <a:r>
              <a:rPr lang="en-US" sz="1500" b="1" dirty="0">
                <a:solidFill>
                  <a:srgbClr val="9AA8C7"/>
                </a:solidFill>
                <a:latin typeface="Arial" pitchFamily="34" charset="0"/>
                <a:ea typeface="Arial" pitchFamily="34" charset="-122"/>
                <a:cs typeface="Arial" pitchFamily="34" charset="-120"/>
              </a:rPr>
              <a:t>→</a:t>
            </a:r>
            <a:endParaRPr lang="en-US" sz="1500" dirty="0"/>
          </a:p>
        </p:txBody>
      </p:sp>
      <p:sp>
        <p:nvSpPr>
          <p:cNvPr id="16" name="Shape 14"/>
          <p:cNvSpPr/>
          <p:nvPr/>
        </p:nvSpPr>
        <p:spPr>
          <a:xfrm>
            <a:off x="5093208" y="1847088"/>
            <a:ext cx="2084832" cy="896112"/>
          </a:xfrm>
          <a:prstGeom prst="roundRect">
            <a:avLst>
              <a:gd name="adj" fmla="val 9184"/>
            </a:avLst>
          </a:prstGeom>
          <a:solidFill>
            <a:srgbClr val="16203A"/>
          </a:solidFill>
          <a:ln w="12700">
            <a:solidFill>
              <a:srgbClr val="26395E"/>
            </a:solidFill>
            <a:prstDash val="solid"/>
          </a:ln>
        </p:spPr>
      </p:sp>
      <p:sp>
        <p:nvSpPr>
          <p:cNvPr id="17" name="Text 15"/>
          <p:cNvSpPr/>
          <p:nvPr/>
        </p:nvSpPr>
        <p:spPr>
          <a:xfrm>
            <a:off x="5221224" y="1956816"/>
            <a:ext cx="1828800" cy="274320"/>
          </a:xfrm>
          <a:prstGeom prst="rect">
            <a:avLst/>
          </a:prstGeom>
          <a:noFill/>
          <a:ln/>
        </p:spPr>
        <p:txBody>
          <a:bodyPr wrap="square" lIns="0" tIns="0" rIns="0" bIns="0" rtlCol="0" anchor="ctr"/>
          <a:lstStyle/>
          <a:p>
            <a:pPr indent="0" marL="0">
              <a:buNone/>
            </a:pPr>
            <a:r>
              <a:rPr lang="en-US" sz="1150" b="1" dirty="0">
                <a:solidFill>
                  <a:srgbClr val="9C7BFF"/>
                </a:solidFill>
                <a:latin typeface="Arial" pitchFamily="34" charset="0"/>
                <a:ea typeface="Arial" pitchFamily="34" charset="-122"/>
                <a:cs typeface="Arial" pitchFamily="34" charset="-120"/>
              </a:rPr>
              <a:t>Pipeline prep</a:t>
            </a:r>
            <a:endParaRPr lang="en-US" sz="1150" dirty="0"/>
          </a:p>
        </p:txBody>
      </p:sp>
      <p:sp>
        <p:nvSpPr>
          <p:cNvPr id="18" name="Text 16"/>
          <p:cNvSpPr/>
          <p:nvPr/>
        </p:nvSpPr>
        <p:spPr>
          <a:xfrm>
            <a:off x="5221224" y="2249424"/>
            <a:ext cx="1828800" cy="457200"/>
          </a:xfrm>
          <a:prstGeom prst="rect">
            <a:avLst/>
          </a:prstGeom>
          <a:noFill/>
          <a:ln/>
        </p:spPr>
        <p:txBody>
          <a:bodyPr wrap="square" lIns="0" tIns="0" rIns="0" bIns="0" rtlCol="0" anchor="ctr"/>
          <a:lstStyle/>
          <a:p>
            <a:pPr indent="0" marL="0">
              <a:buNone/>
            </a:pPr>
            <a:r>
              <a:rPr lang="en-US" sz="950" dirty="0">
                <a:solidFill>
                  <a:srgbClr val="9AA8C7"/>
                </a:solidFill>
                <a:latin typeface="Arial" pitchFamily="34" charset="0"/>
                <a:ea typeface="Arial" pitchFamily="34" charset="-122"/>
                <a:cs typeface="Arial" pitchFamily="34" charset="-120"/>
              </a:rPr>
              <a:t>encode + scale inside CV folds</a:t>
            </a:r>
            <a:endParaRPr lang="en-US" sz="950" dirty="0"/>
          </a:p>
        </p:txBody>
      </p:sp>
      <p:sp>
        <p:nvSpPr>
          <p:cNvPr id="19" name="Text 17"/>
          <p:cNvSpPr/>
          <p:nvPr/>
        </p:nvSpPr>
        <p:spPr>
          <a:xfrm>
            <a:off x="7178040" y="2121408"/>
            <a:ext cx="228600" cy="365760"/>
          </a:xfrm>
          <a:prstGeom prst="rect">
            <a:avLst/>
          </a:prstGeom>
          <a:noFill/>
          <a:ln/>
        </p:spPr>
        <p:txBody>
          <a:bodyPr wrap="square" lIns="0" tIns="0" rIns="0" bIns="0" rtlCol="0" anchor="ctr"/>
          <a:lstStyle/>
          <a:p>
            <a:pPr algn="ctr" indent="0" marL="0">
              <a:buNone/>
            </a:pPr>
            <a:r>
              <a:rPr lang="en-US" sz="1500" b="1" dirty="0">
                <a:solidFill>
                  <a:srgbClr val="9AA8C7"/>
                </a:solidFill>
                <a:latin typeface="Arial" pitchFamily="34" charset="0"/>
                <a:ea typeface="Arial" pitchFamily="34" charset="-122"/>
                <a:cs typeface="Arial" pitchFamily="34" charset="-120"/>
              </a:rPr>
              <a:t>→</a:t>
            </a:r>
            <a:endParaRPr lang="en-US" sz="1500" dirty="0"/>
          </a:p>
        </p:txBody>
      </p:sp>
      <p:sp>
        <p:nvSpPr>
          <p:cNvPr id="20" name="Shape 18"/>
          <p:cNvSpPr/>
          <p:nvPr/>
        </p:nvSpPr>
        <p:spPr>
          <a:xfrm>
            <a:off x="7388352" y="1847088"/>
            <a:ext cx="2084832" cy="896112"/>
          </a:xfrm>
          <a:prstGeom prst="roundRect">
            <a:avLst>
              <a:gd name="adj" fmla="val 9184"/>
            </a:avLst>
          </a:prstGeom>
          <a:solidFill>
            <a:srgbClr val="16203A"/>
          </a:solidFill>
          <a:ln w="12700">
            <a:solidFill>
              <a:srgbClr val="26395E"/>
            </a:solidFill>
            <a:prstDash val="solid"/>
          </a:ln>
        </p:spPr>
      </p:sp>
      <p:sp>
        <p:nvSpPr>
          <p:cNvPr id="21" name="Text 19"/>
          <p:cNvSpPr/>
          <p:nvPr/>
        </p:nvSpPr>
        <p:spPr>
          <a:xfrm>
            <a:off x="7516368" y="1956816"/>
            <a:ext cx="1828800" cy="274320"/>
          </a:xfrm>
          <a:prstGeom prst="rect">
            <a:avLst/>
          </a:prstGeom>
          <a:noFill/>
          <a:ln/>
        </p:spPr>
        <p:txBody>
          <a:bodyPr wrap="square" lIns="0" tIns="0" rIns="0" bIns="0" rtlCol="0" anchor="ctr"/>
          <a:lstStyle/>
          <a:p>
            <a:pPr indent="0" marL="0">
              <a:buNone/>
            </a:pPr>
            <a:r>
              <a:rPr lang="en-US" sz="1150" b="1" dirty="0">
                <a:solidFill>
                  <a:srgbClr val="FFBE55"/>
                </a:solidFill>
                <a:latin typeface="Arial" pitchFamily="34" charset="0"/>
                <a:ea typeface="Arial" pitchFamily="34" charset="-122"/>
                <a:cs typeface="Arial" pitchFamily="34" charset="-120"/>
              </a:rPr>
              <a:t>GridSearchCV</a:t>
            </a:r>
            <a:endParaRPr lang="en-US" sz="1150" dirty="0"/>
          </a:p>
        </p:txBody>
      </p:sp>
      <p:sp>
        <p:nvSpPr>
          <p:cNvPr id="22" name="Text 20"/>
          <p:cNvSpPr/>
          <p:nvPr/>
        </p:nvSpPr>
        <p:spPr>
          <a:xfrm>
            <a:off x="7516368" y="2249424"/>
            <a:ext cx="1828800" cy="457200"/>
          </a:xfrm>
          <a:prstGeom prst="rect">
            <a:avLst/>
          </a:prstGeom>
          <a:noFill/>
          <a:ln/>
        </p:spPr>
        <p:txBody>
          <a:bodyPr wrap="square" lIns="0" tIns="0" rIns="0" bIns="0" rtlCol="0" anchor="ctr"/>
          <a:lstStyle/>
          <a:p>
            <a:pPr indent="0" marL="0">
              <a:buNone/>
            </a:pPr>
            <a:r>
              <a:rPr lang="en-US" sz="950" dirty="0">
                <a:solidFill>
                  <a:srgbClr val="9AA8C7"/>
                </a:solidFill>
                <a:latin typeface="Arial" pitchFamily="34" charset="0"/>
                <a:ea typeface="Arial" pitchFamily="34" charset="-122"/>
                <a:cs typeface="Arial" pitchFamily="34" charset="-120"/>
              </a:rPr>
              <a:t>5-fold CV over 99 combinations</a:t>
            </a:r>
            <a:endParaRPr lang="en-US" sz="950" dirty="0"/>
          </a:p>
        </p:txBody>
      </p:sp>
      <p:sp>
        <p:nvSpPr>
          <p:cNvPr id="23" name="Text 21"/>
          <p:cNvSpPr/>
          <p:nvPr/>
        </p:nvSpPr>
        <p:spPr>
          <a:xfrm>
            <a:off x="9473184" y="2121408"/>
            <a:ext cx="228600" cy="365760"/>
          </a:xfrm>
          <a:prstGeom prst="rect">
            <a:avLst/>
          </a:prstGeom>
          <a:noFill/>
          <a:ln/>
        </p:spPr>
        <p:txBody>
          <a:bodyPr wrap="square" lIns="0" tIns="0" rIns="0" bIns="0" rtlCol="0" anchor="ctr"/>
          <a:lstStyle/>
          <a:p>
            <a:pPr algn="ctr" indent="0" marL="0">
              <a:buNone/>
            </a:pPr>
            <a:r>
              <a:rPr lang="en-US" sz="1500" b="1" dirty="0">
                <a:solidFill>
                  <a:srgbClr val="9AA8C7"/>
                </a:solidFill>
                <a:latin typeface="Arial" pitchFamily="34" charset="0"/>
                <a:ea typeface="Arial" pitchFamily="34" charset="-122"/>
                <a:cs typeface="Arial" pitchFamily="34" charset="-120"/>
              </a:rPr>
              <a:t>→</a:t>
            </a:r>
            <a:endParaRPr lang="en-US" sz="1500" dirty="0"/>
          </a:p>
        </p:txBody>
      </p:sp>
      <p:sp>
        <p:nvSpPr>
          <p:cNvPr id="24" name="Shape 22"/>
          <p:cNvSpPr/>
          <p:nvPr/>
        </p:nvSpPr>
        <p:spPr>
          <a:xfrm>
            <a:off x="9683496" y="1847088"/>
            <a:ext cx="2084832" cy="896112"/>
          </a:xfrm>
          <a:prstGeom prst="roundRect">
            <a:avLst>
              <a:gd name="adj" fmla="val 9184"/>
            </a:avLst>
          </a:prstGeom>
          <a:solidFill>
            <a:srgbClr val="16203A"/>
          </a:solidFill>
          <a:ln w="12700">
            <a:solidFill>
              <a:srgbClr val="26395E"/>
            </a:solidFill>
            <a:prstDash val="solid"/>
          </a:ln>
        </p:spPr>
      </p:sp>
      <p:sp>
        <p:nvSpPr>
          <p:cNvPr id="25" name="Text 23"/>
          <p:cNvSpPr/>
          <p:nvPr/>
        </p:nvSpPr>
        <p:spPr>
          <a:xfrm>
            <a:off x="9811512" y="1956816"/>
            <a:ext cx="1828800" cy="274320"/>
          </a:xfrm>
          <a:prstGeom prst="rect">
            <a:avLst/>
          </a:prstGeom>
          <a:noFill/>
          <a:ln/>
        </p:spPr>
        <p:txBody>
          <a:bodyPr wrap="square" lIns="0" tIns="0" rIns="0" bIns="0" rtlCol="0" anchor="ctr"/>
          <a:lstStyle/>
          <a:p>
            <a:pPr indent="0" marL="0">
              <a:buNone/>
            </a:pPr>
            <a:r>
              <a:rPr lang="en-US" sz="1150" b="1" dirty="0">
                <a:solidFill>
                  <a:srgbClr val="FF6B7A"/>
                </a:solidFill>
                <a:latin typeface="Arial" pitchFamily="34" charset="0"/>
                <a:ea typeface="Arial" pitchFamily="34" charset="-122"/>
                <a:cs typeface="Arial" pitchFamily="34" charset="-120"/>
              </a:rPr>
              <a:t>Final test</a:t>
            </a:r>
            <a:endParaRPr lang="en-US" sz="1150" dirty="0"/>
          </a:p>
        </p:txBody>
      </p:sp>
      <p:sp>
        <p:nvSpPr>
          <p:cNvPr id="26" name="Text 24"/>
          <p:cNvSpPr/>
          <p:nvPr/>
        </p:nvSpPr>
        <p:spPr>
          <a:xfrm>
            <a:off x="9811512" y="2249424"/>
            <a:ext cx="1828800" cy="457200"/>
          </a:xfrm>
          <a:prstGeom prst="rect">
            <a:avLst/>
          </a:prstGeom>
          <a:noFill/>
          <a:ln/>
        </p:spPr>
        <p:txBody>
          <a:bodyPr wrap="square" lIns="0" tIns="0" rIns="0" bIns="0" rtlCol="0" anchor="ctr"/>
          <a:lstStyle/>
          <a:p>
            <a:pPr indent="0" marL="0">
              <a:buNone/>
            </a:pPr>
            <a:r>
              <a:rPr lang="en-US" sz="950" dirty="0">
                <a:solidFill>
                  <a:srgbClr val="9AA8C7"/>
                </a:solidFill>
                <a:latin typeface="Arial" pitchFamily="34" charset="0"/>
                <a:ea typeface="Arial" pitchFamily="34" charset="-122"/>
                <a:cs typeface="Arial" pitchFamily="34" charset="-120"/>
              </a:rPr>
              <a:t>one look at the 212 test rows</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3063240"/>
          <a:ext cx="7589520" cy="914400"/>
        </p:xfrm>
        <a:graphic>
          <a:graphicData uri="http://schemas.openxmlformats.org/drawingml/2006/table">
            <a:tbl>
              <a:tblPr/>
              <a:tblGrid>
                <a:gridCol w="1508760"/>
                <a:gridCol w="3703320"/>
                <a:gridCol w="2377440"/>
              </a:tblGrid>
              <a:tr h="384048">
                <a:tc>
                  <a:txBody>
                    <a:bodyPr/>
                    <a:lstStyle/>
                    <a:p>
                      <a:pPr indent="0" marL="0">
                        <a:buNone/>
                      </a:pPr>
                      <a:r>
                        <a:rPr lang="en-US" sz="1050" b="1" dirty="0">
                          <a:solidFill>
                            <a:srgbClr val="EAF2FF"/>
                          </a:solidFill>
                          <a:latin typeface="Arial" pitchFamily="34" charset="0"/>
                          <a:ea typeface="Arial" pitchFamily="34" charset="-122"/>
                          <a:cs typeface="Arial" pitchFamily="34" charset="-120"/>
                        </a:rPr>
                        <a:t>Model</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b="1" dirty="0">
                          <a:solidFill>
                            <a:srgbClr val="EAF2FF"/>
                          </a:solidFill>
                          <a:latin typeface="Arial" pitchFamily="34" charset="0"/>
                          <a:ea typeface="Arial" pitchFamily="34" charset="-122"/>
                          <a:cs typeface="Arial" pitchFamily="34" charset="-120"/>
                        </a:rPr>
                        <a:t>Hyperparameter grid searched</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b="1" dirty="0">
                          <a:solidFill>
                            <a:srgbClr val="EAF2FF"/>
                          </a:solidFill>
                          <a:latin typeface="Arial" pitchFamily="34" charset="0"/>
                          <a:ea typeface="Arial" pitchFamily="34" charset="-122"/>
                          <a:cs typeface="Arial" pitchFamily="34" charset="-120"/>
                        </a:rPr>
                        <a:t>Best setting (5-fold CV)</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384048">
                <a:tc>
                  <a:txBody>
                    <a:bodyPr/>
                    <a:lstStyle/>
                    <a:p>
                      <a:pPr indent="0" marL="0">
                        <a:buNone/>
                      </a:pPr>
                      <a:r>
                        <a:rPr lang="en-US" sz="1050" dirty="0">
                          <a:solidFill>
                            <a:srgbClr val="9AA8C7"/>
                          </a:solidFill>
                          <a:latin typeface="Arial" pitchFamily="34" charset="0"/>
                          <a:ea typeface="Arial" pitchFamily="34" charset="-122"/>
                          <a:cs typeface="Arial" pitchFamily="34" charset="-120"/>
                        </a:rPr>
                        <a:t>Ridge</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alpha in {0.1, 1, 3, 10, 30, 100}</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alpha = 30</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384048">
                <a:tc>
                  <a:txBody>
                    <a:bodyPr/>
                    <a:lstStyle/>
                    <a:p>
                      <a:pPr indent="0" marL="0">
                        <a:buNone/>
                      </a:pPr>
                      <a:r>
                        <a:rPr lang="en-US" sz="1050" dirty="0">
                          <a:solidFill>
                            <a:srgbClr val="9AA8C7"/>
                          </a:solidFill>
                          <a:latin typeface="Arial" pitchFamily="34" charset="0"/>
                          <a:ea typeface="Arial" pitchFamily="34" charset="-122"/>
                          <a:cs typeface="Arial" pitchFamily="34" charset="-120"/>
                        </a:rPr>
                        <a:t>Lasso</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alpha in {0.0005, 0.001, 0.005, 0.01, 0.05}</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alpha = 0.005</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384048">
                <a:tc>
                  <a:txBody>
                    <a:bodyPr/>
                    <a:lstStyle/>
                    <a:p>
                      <a:pPr indent="0" marL="0">
                        <a:buNone/>
                      </a:pPr>
                      <a:r>
                        <a:rPr lang="en-US" sz="1050" dirty="0">
                          <a:solidFill>
                            <a:srgbClr val="9AA8C7"/>
                          </a:solidFill>
                          <a:latin typeface="Arial" pitchFamily="34" charset="0"/>
                          <a:ea typeface="Arial" pitchFamily="34" charset="-122"/>
                          <a:cs typeface="Arial" pitchFamily="34" charset="-120"/>
                        </a:rPr>
                        <a:t>KNN</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k in {5, 10, 15, 25, 40}; uniform or distance weights</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k = 25, uniform</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384048">
                <a:tc>
                  <a:txBody>
                    <a:bodyPr/>
                    <a:lstStyle/>
                    <a:p>
                      <a:pPr indent="0" marL="0">
                        <a:buNone/>
                      </a:pPr>
                      <a:r>
                        <a:rPr lang="en-US" sz="1050" dirty="0">
                          <a:solidFill>
                            <a:srgbClr val="9AA8C7"/>
                          </a:solidFill>
                          <a:latin typeface="Arial" pitchFamily="34" charset="0"/>
                          <a:ea typeface="Arial" pitchFamily="34" charset="-122"/>
                          <a:cs typeface="Arial" pitchFamily="34" charset="-120"/>
                        </a:rPr>
                        <a:t>Random Forest</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300/600 trees; depth {4, 6, 10, none}; leaf {2, 5, 10}</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600 trees, depth 4, leaf 2</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384048">
                <a:tc>
                  <a:txBody>
                    <a:bodyPr/>
                    <a:lstStyle/>
                    <a:p>
                      <a:pPr indent="0" marL="0">
                        <a:buNone/>
                      </a:pPr>
                      <a:r>
                        <a:rPr lang="en-US" sz="1050" dirty="0">
                          <a:solidFill>
                            <a:srgbClr val="9AA8C7"/>
                          </a:solidFill>
                          <a:latin typeface="Arial" pitchFamily="34" charset="0"/>
                          <a:ea typeface="Arial" pitchFamily="34" charset="-122"/>
                          <a:cs typeface="Arial" pitchFamily="34" charset="-120"/>
                        </a:rPr>
                        <a:t>Gradient Boosting</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200/400/800 trees; rate {0.01, 0.03, 0.1}; depth {2, 3, 4}; subsample {0.8, 1.0}</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indent="0" marL="0">
                        <a:buNone/>
                      </a:pPr>
                      <a:r>
                        <a:rPr lang="en-US" sz="1050" dirty="0">
                          <a:solidFill>
                            <a:srgbClr val="9AA8C7"/>
                          </a:solidFill>
                          <a:latin typeface="Arial" pitchFamily="34" charset="0"/>
                          <a:ea typeface="Arial" pitchFamily="34" charset="-122"/>
                          <a:cs typeface="Arial" pitchFamily="34" charset="-120"/>
                        </a:rPr>
                        <a:t>200 trees, rate 0.03, depth 2, subsample 0.8</a:t>
                      </a:r>
                      <a:endParaRPr lang="en-US" sz="1050" dirty="0">
                        <a:latin typeface="Arial" charset="0"/>
                        <a:ea typeface="Arial" charset="0"/>
                        <a:cs typeface="Arial" charset="0"/>
                      </a:endParaRPr>
                    </a:p>
                  </a:txBody>
                  <a:tcPr marL="64008" marR="64008" marT="64008" marB="64008"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bl>
          </a:graphicData>
        </a:graphic>
      </p:graphicFrame>
      <p:sp>
        <p:nvSpPr>
          <p:cNvPr id="28" name="Shape 25"/>
          <p:cNvSpPr/>
          <p:nvPr/>
        </p:nvSpPr>
        <p:spPr>
          <a:xfrm>
            <a:off x="8275320" y="3063240"/>
            <a:ext cx="3410712" cy="3017520"/>
          </a:xfrm>
          <a:prstGeom prst="roundRect">
            <a:avLst>
              <a:gd name="adj" fmla="val 2727"/>
            </a:avLst>
          </a:prstGeom>
          <a:solidFill>
            <a:srgbClr val="111A2E"/>
          </a:solidFill>
          <a:ln w="12700">
            <a:solidFill>
              <a:srgbClr val="26395E"/>
            </a:solidFill>
            <a:prstDash val="solid"/>
          </a:ln>
        </p:spPr>
      </p:sp>
      <p:sp>
        <p:nvSpPr>
          <p:cNvPr id="29" name="Text 26"/>
          <p:cNvSpPr/>
          <p:nvPr/>
        </p:nvSpPr>
        <p:spPr>
          <a:xfrm>
            <a:off x="8522208" y="3218688"/>
            <a:ext cx="2926080" cy="274320"/>
          </a:xfrm>
          <a:prstGeom prst="rect">
            <a:avLst/>
          </a:prstGeom>
          <a:noFill/>
          <a:ln/>
        </p:spPr>
        <p:txBody>
          <a:bodyPr wrap="square" lIns="0" tIns="0" rIns="0" bIns="0" rtlCol="0" anchor="ctr"/>
          <a:lstStyle/>
          <a:p>
            <a:pPr indent="0" marL="0">
              <a:buNone/>
            </a:pPr>
            <a:r>
              <a:rPr lang="en-US" sz="1300" b="1" dirty="0">
                <a:solidFill>
                  <a:srgbClr val="35E7C3"/>
                </a:solidFill>
                <a:latin typeface="Arial" pitchFamily="34" charset="0"/>
                <a:ea typeface="Arial" pitchFamily="34" charset="-122"/>
                <a:cs typeface="Arial" pitchFamily="34" charset="-120"/>
              </a:rPr>
              <a:t>Validation discipline</a:t>
            </a:r>
            <a:endParaRPr lang="en-US" sz="1300" dirty="0"/>
          </a:p>
        </p:txBody>
      </p:sp>
      <p:sp>
        <p:nvSpPr>
          <p:cNvPr id="30" name="Text 27"/>
          <p:cNvSpPr/>
          <p:nvPr/>
        </p:nvSpPr>
        <p:spPr>
          <a:xfrm>
            <a:off x="8522208" y="3566160"/>
            <a:ext cx="2971800" cy="2468880"/>
          </a:xfrm>
          <a:prstGeom prst="rect">
            <a:avLst/>
          </a:prstGeom>
          <a:noFill/>
          <a:ln/>
        </p:spPr>
        <p:txBody>
          <a:bodyPr wrap="square" lIns="0" tIns="0" rIns="0" bIns="0" rtlCol="0" anchor="t"/>
          <a:lstStyle/>
          <a:p>
            <a:pPr algn="l" marL="127000" indent="-127000">
              <a:spcAft>
                <a:spcPts val="600"/>
              </a:spcAft>
              <a:buSzPct val="100000"/>
              <a:buChar char="•"/>
            </a:pPr>
            <a:r>
              <a:rPr lang="en-US" sz="1050" dirty="0">
                <a:solidFill>
                  <a:srgbClr val="9AA8C7"/>
                </a:solidFill>
                <a:latin typeface="Arial" pitchFamily="34" charset="0"/>
                <a:ea typeface="Arial" pitchFamily="34" charset="-122"/>
                <a:cs typeface="Arial" pitchFamily="34" charset="-120"/>
              </a:rPr>
              <a:t>Same folds (seed 17) for every model, so comparisons are apples to apples.</a:t>
            </a:r>
            <a:endParaRPr lang="en-US" sz="1050" dirty="0"/>
          </a:p>
          <a:p>
            <a:pPr algn="l" marL="127000" indent="-127000">
              <a:spcAft>
                <a:spcPts val="600"/>
              </a:spcAft>
              <a:buSzPct val="100000"/>
              <a:buChar char="•"/>
            </a:pPr>
            <a:r>
              <a:rPr lang="en-US" sz="1050" dirty="0">
                <a:solidFill>
                  <a:srgbClr val="9AA8C7"/>
                </a:solidFill>
                <a:latin typeface="Arial" pitchFamily="34" charset="0"/>
                <a:ea typeface="Arial" pitchFamily="34" charset="-122"/>
                <a:cs typeface="Arial" pitchFamily="34" charset="-120"/>
              </a:rPr>
              <a:t>Scoring metric: R² on ln(Valuation); MAE and RMSE reported alongside.</a:t>
            </a:r>
            <a:endParaRPr lang="en-US" sz="1050" dirty="0"/>
          </a:p>
          <a:p>
            <a:pPr algn="l" marL="127000" indent="-127000">
              <a:spcAft>
                <a:spcPts val="600"/>
              </a:spcAft>
              <a:buSzPct val="100000"/>
              <a:buChar char="•"/>
            </a:pPr>
            <a:r>
              <a:rPr lang="en-US" sz="1050" dirty="0">
                <a:solidFill>
                  <a:srgbClr val="9AA8C7"/>
                </a:solidFill>
                <a:latin typeface="Arial" pitchFamily="34" charset="0"/>
                <a:ea typeface="Arial" pitchFamily="34" charset="-122"/>
                <a:cs typeface="Arial" pitchFamily="34" charset="-120"/>
              </a:rPr>
              <a:t>The 212 test companies are touched exactly once, after all tuning is frozen.</a:t>
            </a:r>
            <a:endParaRPr lang="en-US" sz="1050" dirty="0"/>
          </a:p>
          <a:p>
            <a:pPr algn="l" marL="127000" indent="-127000">
              <a:spcAft>
                <a:spcPts val="600"/>
              </a:spcAft>
              <a:buSzPct val="100000"/>
              <a:buChar char="•"/>
            </a:pPr>
            <a:r>
              <a:rPr lang="en-US" sz="1050" dirty="0">
                <a:solidFill>
                  <a:srgbClr val="9AA8C7"/>
                </a:solidFill>
                <a:latin typeface="Arial" pitchFamily="34" charset="0"/>
                <a:ea typeface="Arial" pitchFamily="34" charset="-122"/>
                <a:cs typeface="Arial" pitchFamily="34" charset="-120"/>
              </a:rPr>
              <a:t>The tuned winner prefers shallow, slow-learning trees: evidence that regularization matters more than raw capacity here.</a:t>
            </a:r>
            <a:endParaRPr lang="en-US" sz="1050" dirty="0"/>
          </a:p>
        </p:txBody>
      </p:sp>
      <p:sp>
        <p:nvSpPr>
          <p:cNvPr id="31" name="Text 28"/>
          <p:cNvSpPr/>
          <p:nvPr/>
        </p:nvSpPr>
        <p:spPr>
          <a:xfrm>
            <a:off x="502920" y="6473952"/>
            <a:ext cx="8686800" cy="274320"/>
          </a:xfrm>
          <a:prstGeom prst="rect">
            <a:avLst/>
          </a:prstGeom>
          <a:noFill/>
          <a:ln/>
        </p:spPr>
        <p:txBody>
          <a:bodyPr wrap="square" lIns="0" tIns="0" rIns="0" bIns="0" rtlCol="0" anchor="ctr"/>
          <a:lstStyle/>
          <a:p>
            <a:pPr algn="l" indent="0" marL="0">
              <a:buNone/>
            </a:pPr>
            <a:r>
              <a:rPr lang="en-US" sz="900" b="1" dirty="0">
                <a:solidFill>
                  <a:srgbClr val="EAF2FF"/>
                </a:solidFill>
                <a:latin typeface="Arial" pitchFamily="34" charset="0"/>
                <a:ea typeface="Arial" pitchFamily="34" charset="-122"/>
                <a:cs typeface="Arial" pitchFamily="34" charset="-120"/>
              </a:rPr>
              <a:t>Team 17</a:t>
            </a:r>
            <a:pPr algn="l" indent="0" marL="0">
              <a:buNone/>
            </a:pPr>
            <a:r>
              <a:rPr lang="en-US" sz="900" dirty="0">
                <a:solidFill>
                  <a:srgbClr val="9AA8C7"/>
                </a:solidFill>
                <a:latin typeface="Arial" pitchFamily="34" charset="0"/>
                <a:ea typeface="Arial" pitchFamily="34" charset="-122"/>
                <a:cs typeface="Arial" pitchFamily="34" charset="-120"/>
              </a:rPr>
              <a:t>   |   Startup Growth &amp; Investment   |   Model Definition &amp; Initial Results</a:t>
            </a:r>
            <a:endParaRPr lang="en-US" sz="900" dirty="0"/>
          </a:p>
        </p:txBody>
      </p:sp>
      <p:sp>
        <p:nvSpPr>
          <p:cNvPr id="32" name="Text 29"/>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900" dirty="0">
                <a:solidFill>
                  <a:srgbClr val="9AA8C7"/>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020"/>
        </a:solidFill>
      </p:bgPr>
    </p:bg>
    <p:spTree>
      <p:nvGrpSpPr>
        <p:cNvPr id="1" name=""/>
        <p:cNvGrpSpPr/>
        <p:nvPr/>
      </p:nvGrpSpPr>
      <p:grpSpPr>
        <a:xfrm>
          <a:off x="0" y="0"/>
          <a:ext cx="0" cy="0"/>
          <a:chOff x="0" y="0"/>
          <a:chExt cx="0" cy="0"/>
        </a:xfrm>
      </p:grpSpPr>
      <p:sp>
        <p:nvSpPr>
          <p:cNvPr id="2" name="Shape 0"/>
          <p:cNvSpPr/>
          <p:nvPr/>
        </p:nvSpPr>
        <p:spPr>
          <a:xfrm>
            <a:off x="-2194560" y="4937760"/>
            <a:ext cx="5303520" cy="4023360"/>
          </a:xfrm>
          <a:prstGeom prst="ellipse">
            <a:avLst/>
          </a:prstGeom>
          <a:solidFill>
            <a:srgbClr val="35275D">
              <a:alpha val="64000"/>
            </a:srgbClr>
          </a:solidFill>
          <a:ln/>
        </p:spPr>
      </p:sp>
      <p:sp>
        <p:nvSpPr>
          <p:cNvPr id="3" name="Shape 1"/>
          <p:cNvSpPr/>
          <p:nvPr/>
        </p:nvSpPr>
        <p:spPr>
          <a:xfrm>
            <a:off x="10241280" y="-2011680"/>
            <a:ext cx="4754880" cy="4389120"/>
          </a:xfrm>
          <a:prstGeom prst="ellipse">
            <a:avLst/>
          </a:prstGeom>
          <a:solidFill>
            <a:srgbClr val="17473E">
              <a:alpha val="70000"/>
            </a:srgbClr>
          </a:solidFill>
          <a:ln/>
        </p:spPr>
      </p:sp>
      <p:sp>
        <p:nvSpPr>
          <p:cNvPr id="4" name="Shape 2"/>
          <p:cNvSpPr/>
          <p:nvPr/>
        </p:nvSpPr>
        <p:spPr>
          <a:xfrm>
            <a:off x="502920" y="384048"/>
            <a:ext cx="2066544" cy="310896"/>
          </a:xfrm>
          <a:prstGeom prst="roundRect">
            <a:avLst>
              <a:gd name="adj" fmla="val 50000"/>
            </a:avLst>
          </a:prstGeom>
          <a:solidFill>
            <a:srgbClr val="FF6B7A"/>
          </a:solidFill>
          <a:ln/>
        </p:spPr>
      </p:sp>
      <p:sp>
        <p:nvSpPr>
          <p:cNvPr id="5" name="Text 3"/>
          <p:cNvSpPr/>
          <p:nvPr/>
        </p:nvSpPr>
        <p:spPr>
          <a:xfrm>
            <a:off x="502920" y="384048"/>
            <a:ext cx="2066544" cy="310896"/>
          </a:xfrm>
          <a:prstGeom prst="rect">
            <a:avLst/>
          </a:prstGeom>
          <a:noFill/>
          <a:ln/>
        </p:spPr>
        <p:txBody>
          <a:bodyPr wrap="none" lIns="0" tIns="0" rIns="0" bIns="0" rtlCol="0" anchor="ctr"/>
          <a:lstStyle/>
          <a:p>
            <a:pPr algn="ctr" indent="0" marL="0">
              <a:buNone/>
            </a:pPr>
            <a:r>
              <a:rPr lang="en-US" sz="1050" b="1" spc="100" kern="0" dirty="0">
                <a:solidFill>
                  <a:srgbClr val="0A1020"/>
                </a:solidFill>
                <a:latin typeface="Arial" pitchFamily="34" charset="0"/>
                <a:ea typeface="Arial" pitchFamily="34" charset="-122"/>
                <a:cs typeface="Arial" pitchFamily="34" charset="-120"/>
              </a:rPr>
              <a:t>ALTERNATE MODELS</a:t>
            </a:r>
            <a:endParaRPr lang="en-US" sz="1050" dirty="0"/>
          </a:p>
        </p:txBody>
      </p:sp>
      <p:sp>
        <p:nvSpPr>
          <p:cNvPr id="6" name="Text 4"/>
          <p:cNvSpPr/>
          <p:nvPr/>
        </p:nvSpPr>
        <p:spPr>
          <a:xfrm>
            <a:off x="502920" y="749808"/>
            <a:ext cx="11155680" cy="566928"/>
          </a:xfrm>
          <a:prstGeom prst="rect">
            <a:avLst/>
          </a:prstGeom>
          <a:noFill/>
          <a:ln/>
        </p:spPr>
        <p:txBody>
          <a:bodyPr wrap="square" lIns="0" tIns="0" rIns="0" bIns="0" rtlCol="0" anchor="ctr"/>
          <a:lstStyle/>
          <a:p>
            <a:pPr indent="0" marL="0">
              <a:buNone/>
            </a:pPr>
            <a:r>
              <a:rPr lang="en-US" sz="2700" b="1" dirty="0">
                <a:solidFill>
                  <a:srgbClr val="EAF2FF"/>
                </a:solidFill>
                <a:latin typeface="Arial" pitchFamily="34" charset="0"/>
                <a:ea typeface="Arial" pitchFamily="34" charset="-122"/>
                <a:cs typeface="Arial" pitchFamily="34" charset="-120"/>
              </a:rPr>
              <a:t>Gradient boosting wins, and the margin is honest</a:t>
            </a:r>
            <a:endParaRPr lang="en-US" sz="2700" dirty="0"/>
          </a:p>
        </p:txBody>
      </p:sp>
      <p:sp>
        <p:nvSpPr>
          <p:cNvPr id="7" name="Text 5"/>
          <p:cNvSpPr/>
          <p:nvPr/>
        </p:nvSpPr>
        <p:spPr>
          <a:xfrm>
            <a:off x="502920" y="1316736"/>
            <a:ext cx="11155680" cy="310896"/>
          </a:xfrm>
          <a:prstGeom prst="rect">
            <a:avLst/>
          </a:prstGeom>
          <a:noFill/>
          <a:ln/>
        </p:spPr>
        <p:txBody>
          <a:bodyPr wrap="square" lIns="0" tIns="0" rIns="0" bIns="0" rtlCol="0" anchor="ctr"/>
          <a:lstStyle/>
          <a:p>
            <a:pPr indent="0" marL="0">
              <a:buNone/>
            </a:pPr>
            <a:r>
              <a:rPr lang="en-US" sz="1250" i="1" dirty="0">
                <a:solidFill>
                  <a:srgbClr val="9AA8C7"/>
                </a:solidFill>
                <a:latin typeface="Arial" pitchFamily="34" charset="0"/>
                <a:ea typeface="Arial" pitchFamily="34" charset="-122"/>
                <a:cs typeface="Arial" pitchFamily="34" charset="-120"/>
              </a:rPr>
              <a:t>Every alternate model was fit, tuned, and scored on identical folds and the identical held-out test set.</a:t>
            </a:r>
            <a:endParaRPr lang="en-US" sz="1250" dirty="0"/>
          </a:p>
        </p:txBody>
      </p:sp>
      <p:sp>
        <p:nvSpPr>
          <p:cNvPr id="8" name="Shape 6"/>
          <p:cNvSpPr/>
          <p:nvPr/>
        </p:nvSpPr>
        <p:spPr>
          <a:xfrm>
            <a:off x="502920" y="1828800"/>
            <a:ext cx="6492240" cy="4297680"/>
          </a:xfrm>
          <a:prstGeom prst="roundRect">
            <a:avLst>
              <a:gd name="adj" fmla="val 1915"/>
            </a:avLst>
          </a:prstGeom>
          <a:solidFill>
            <a:srgbClr val="111A2E"/>
          </a:solidFill>
          <a:ln w="12700">
            <a:solidFill>
              <a:srgbClr val="26395E"/>
            </a:solidFill>
            <a:prstDash val="solid"/>
          </a:ln>
        </p:spPr>
      </p:sp>
      <p:pic>
        <p:nvPicPr>
          <p:cNvPr id="9" name="Image 0" descr="/private/tmp/claude-501/-Users-kayvon-Capstone-Project-Cornell/1969d4a9-eb5b-4b12-94db-282109d9f508/scratchpad/chart_model_comparison.png">    </p:cNvPr>
          <p:cNvPicPr>
            <a:picLocks noChangeAspect="1"/>
          </p:cNvPicPr>
          <p:nvPr/>
        </p:nvPicPr>
        <p:blipFill>
          <a:blip r:embed="rId1"/>
          <a:stretch>
            <a:fillRect/>
          </a:stretch>
        </p:blipFill>
        <p:spPr>
          <a:xfrm>
            <a:off x="685800" y="2057400"/>
            <a:ext cx="6126480" cy="3575304"/>
          </a:xfrm>
          <a:prstGeom prst="rect">
            <a:avLst/>
          </a:prstGeom>
        </p:spPr>
      </p:pic>
      <p:sp>
        <p:nvSpPr>
          <p:cNvPr id="10" name="Text 7"/>
          <p:cNvSpPr/>
          <p:nvPr/>
        </p:nvSpPr>
        <p:spPr>
          <a:xfrm>
            <a:off x="685800" y="1847088"/>
            <a:ext cx="6126480" cy="237744"/>
          </a:xfrm>
          <a:prstGeom prst="rect">
            <a:avLst/>
          </a:prstGeom>
          <a:noFill/>
          <a:ln/>
        </p:spPr>
        <p:txBody>
          <a:bodyPr wrap="square" lIns="0" tIns="0" rIns="0" bIns="0" rtlCol="0" anchor="ctr"/>
          <a:lstStyle/>
          <a:p>
            <a:pPr algn="ctr" indent="0" marL="0">
              <a:buNone/>
            </a:pPr>
            <a:r>
              <a:rPr lang="en-US" sz="1100" b="1" dirty="0">
                <a:solidFill>
                  <a:srgbClr val="EAF2FF"/>
                </a:solidFill>
                <a:latin typeface="Arial" pitchFamily="34" charset="0"/>
                <a:ea typeface="Arial" pitchFamily="34" charset="-122"/>
                <a:cs typeface="Arial" pitchFamily="34" charset="-120"/>
              </a:rPr>
              <a:t>Model accuracy comparison, target ln(Valuation)</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223760" y="1828800"/>
          <a:ext cx="4462272" cy="914400"/>
        </p:xfrm>
        <a:graphic>
          <a:graphicData uri="http://schemas.openxmlformats.org/drawingml/2006/table">
            <a:tbl>
              <a:tblPr/>
              <a:tblGrid>
                <a:gridCol w="1810512"/>
                <a:gridCol w="868680"/>
                <a:gridCol w="868680"/>
                <a:gridCol w="914400"/>
              </a:tblGrid>
              <a:tr h="274320">
                <a:tc>
                  <a:txBody>
                    <a:bodyPr/>
                    <a:lstStyle/>
                    <a:p>
                      <a:pPr algn="l" indent="0" marL="0">
                        <a:buNone/>
                      </a:pPr>
                      <a:r>
                        <a:rPr lang="en-US" sz="1000" b="1" dirty="0">
                          <a:solidFill>
                            <a:srgbClr val="EAF2FF"/>
                          </a:solidFill>
                          <a:latin typeface="Arial" pitchFamily="34" charset="0"/>
                          <a:ea typeface="Arial" pitchFamily="34" charset="-122"/>
                          <a:cs typeface="Arial" pitchFamily="34" charset="-120"/>
                        </a:rPr>
                        <a:t>Model</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b="1" dirty="0">
                          <a:solidFill>
                            <a:srgbClr val="EAF2FF"/>
                          </a:solidFill>
                          <a:latin typeface="Arial" pitchFamily="34" charset="0"/>
                          <a:ea typeface="Arial" pitchFamily="34" charset="-122"/>
                          <a:cs typeface="Arial" pitchFamily="34" charset="-120"/>
                        </a:rPr>
                        <a:t>CV R²</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b="1" dirty="0">
                          <a:solidFill>
                            <a:srgbClr val="EAF2FF"/>
                          </a:solidFill>
                          <a:latin typeface="Arial" pitchFamily="34" charset="0"/>
                          <a:ea typeface="Arial" pitchFamily="34" charset="-122"/>
                          <a:cs typeface="Arial" pitchFamily="34" charset="-120"/>
                        </a:rPr>
                        <a:t>Test R²</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b="1" dirty="0">
                          <a:solidFill>
                            <a:srgbClr val="EAF2FF"/>
                          </a:solidFill>
                          <a:latin typeface="Arial" pitchFamily="34" charset="0"/>
                          <a:ea typeface="Arial" pitchFamily="34" charset="-122"/>
                          <a:cs typeface="Arial" pitchFamily="34" charset="-120"/>
                        </a:rPr>
                        <a:t>MAE (ln)</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274320">
                <a:tc>
                  <a:txBody>
                    <a:bodyPr/>
                    <a:lstStyle/>
                    <a:p>
                      <a:pPr algn="l" indent="0" marL="0">
                        <a:buNone/>
                      </a:pPr>
                      <a:r>
                        <a:rPr lang="en-US" sz="1000" dirty="0">
                          <a:solidFill>
                            <a:srgbClr val="9AA8C7"/>
                          </a:solidFill>
                          <a:latin typeface="Arial" pitchFamily="34" charset="0"/>
                          <a:ea typeface="Arial" pitchFamily="34" charset="-122"/>
                          <a:cs typeface="Arial" pitchFamily="34" charset="-120"/>
                        </a:rPr>
                        <a:t>Baseline (mean)</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-0.01</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0.00</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0.62</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274320">
                <a:tc>
                  <a:txBody>
                    <a:bodyPr/>
                    <a:lstStyle/>
                    <a:p>
                      <a:pPr algn="l" indent="0" marL="0">
                        <a:buNone/>
                      </a:pPr>
                      <a:r>
                        <a:rPr lang="en-US" sz="1000" dirty="0">
                          <a:solidFill>
                            <a:srgbClr val="9AA8C7"/>
                          </a:solidFill>
                          <a:latin typeface="Arial" pitchFamily="34" charset="0"/>
                          <a:ea typeface="Arial" pitchFamily="34" charset="-122"/>
                          <a:cs typeface="Arial" pitchFamily="34" charset="-120"/>
                        </a:rPr>
                        <a:t>Linear (OLS)</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0.36</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0.45</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0.45</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274320">
                <a:tc>
                  <a:txBody>
                    <a:bodyPr/>
                    <a:lstStyle/>
                    <a:p>
                      <a:pPr algn="l" indent="0" marL="0">
                        <a:buNone/>
                      </a:pPr>
                      <a:r>
                        <a:rPr lang="en-US" sz="1000" dirty="0">
                          <a:solidFill>
                            <a:srgbClr val="9AA8C7"/>
                          </a:solidFill>
                          <a:latin typeface="Arial" pitchFamily="34" charset="0"/>
                          <a:ea typeface="Arial" pitchFamily="34" charset="-122"/>
                          <a:cs typeface="Arial" pitchFamily="34" charset="-120"/>
                        </a:rPr>
                        <a:t>Ridge</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0.37</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0.45</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0.45</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274320">
                <a:tc>
                  <a:txBody>
                    <a:bodyPr/>
                    <a:lstStyle/>
                    <a:p>
                      <a:pPr algn="l" indent="0" marL="0">
                        <a:buNone/>
                      </a:pPr>
                      <a:r>
                        <a:rPr lang="en-US" sz="1000" dirty="0">
                          <a:solidFill>
                            <a:srgbClr val="9AA8C7"/>
                          </a:solidFill>
                          <a:latin typeface="Arial" pitchFamily="34" charset="0"/>
                          <a:ea typeface="Arial" pitchFamily="34" charset="-122"/>
                          <a:cs typeface="Arial" pitchFamily="34" charset="-120"/>
                        </a:rPr>
                        <a:t>Lasso</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0.38</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0.45</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0.45</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274320">
                <a:tc>
                  <a:txBody>
                    <a:bodyPr/>
                    <a:lstStyle/>
                    <a:p>
                      <a:pPr algn="l" indent="0" marL="0">
                        <a:buNone/>
                      </a:pPr>
                      <a:r>
                        <a:rPr lang="en-US" sz="1000" dirty="0">
                          <a:solidFill>
                            <a:srgbClr val="9AA8C7"/>
                          </a:solidFill>
                          <a:latin typeface="Arial" pitchFamily="34" charset="0"/>
                          <a:ea typeface="Arial" pitchFamily="34" charset="-122"/>
                          <a:cs typeface="Arial" pitchFamily="34" charset="-120"/>
                        </a:rPr>
                        <a:t>KNN</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0.41</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0.47</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0.46</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274320">
                <a:tc>
                  <a:txBody>
                    <a:bodyPr/>
                    <a:lstStyle/>
                    <a:p>
                      <a:pPr algn="l" indent="0" marL="0">
                        <a:buNone/>
                      </a:pPr>
                      <a:r>
                        <a:rPr lang="en-US" sz="1000" dirty="0">
                          <a:solidFill>
                            <a:srgbClr val="9AA8C7"/>
                          </a:solidFill>
                          <a:latin typeface="Arial" pitchFamily="34" charset="0"/>
                          <a:ea typeface="Arial" pitchFamily="34" charset="-122"/>
                          <a:cs typeface="Arial" pitchFamily="34" charset="-120"/>
                        </a:rPr>
                        <a:t>Random Forest</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0.44</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0.49</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dirty="0">
                          <a:solidFill>
                            <a:srgbClr val="9AA8C7"/>
                          </a:solidFill>
                          <a:latin typeface="Arial" pitchFamily="34" charset="0"/>
                          <a:ea typeface="Arial" pitchFamily="34" charset="-122"/>
                          <a:cs typeface="Arial" pitchFamily="34" charset="-120"/>
                        </a:rPr>
                        <a:t>0.44</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r h="274320">
                <a:tc>
                  <a:txBody>
                    <a:bodyPr/>
                    <a:lstStyle/>
                    <a:p>
                      <a:pPr algn="l" indent="0" marL="0">
                        <a:buNone/>
                      </a:pPr>
                      <a:r>
                        <a:rPr lang="en-US" sz="1000" b="1" dirty="0">
                          <a:solidFill>
                            <a:srgbClr val="FFBE55"/>
                          </a:solidFill>
                          <a:latin typeface="Arial" pitchFamily="34" charset="0"/>
                          <a:ea typeface="Arial" pitchFamily="34" charset="-122"/>
                          <a:cs typeface="Arial" pitchFamily="34" charset="-120"/>
                        </a:rPr>
                        <a:t>Gradient Boosting</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b="1" dirty="0">
                          <a:solidFill>
                            <a:srgbClr val="FFBE55"/>
                          </a:solidFill>
                          <a:latin typeface="Arial" pitchFamily="34" charset="0"/>
                          <a:ea typeface="Arial" pitchFamily="34" charset="-122"/>
                          <a:cs typeface="Arial" pitchFamily="34" charset="-120"/>
                        </a:rPr>
                        <a:t>0.46</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b="1" dirty="0">
                          <a:solidFill>
                            <a:srgbClr val="FFBE55"/>
                          </a:solidFill>
                          <a:latin typeface="Arial" pitchFamily="34" charset="0"/>
                          <a:ea typeface="Arial" pitchFamily="34" charset="-122"/>
                          <a:cs typeface="Arial" pitchFamily="34" charset="-120"/>
                        </a:rPr>
                        <a:t>0.51</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c>
                  <a:txBody>
                    <a:bodyPr/>
                    <a:lstStyle/>
                    <a:p>
                      <a:pPr algn="ctr" indent="0" marL="0">
                        <a:buNone/>
                      </a:pPr>
                      <a:r>
                        <a:rPr lang="en-US" sz="1000" b="1" dirty="0">
                          <a:solidFill>
                            <a:srgbClr val="FFBE55"/>
                          </a:solidFill>
                          <a:latin typeface="Arial" pitchFamily="34" charset="0"/>
                          <a:ea typeface="Arial" pitchFamily="34" charset="-122"/>
                          <a:cs typeface="Arial" pitchFamily="34" charset="-120"/>
                        </a:rPr>
                        <a:t>0.44</a:t>
                      </a:r>
                      <a:endParaRPr lang="en-US" sz="1000" dirty="0">
                        <a:latin typeface="Arial" charset="0"/>
                        <a:ea typeface="Arial" charset="0"/>
                        <a:cs typeface="Arial" charset="0"/>
                      </a:endParaRPr>
                    </a:p>
                  </a:txBody>
                  <a:tcPr marL="45720" marR="45720" marT="45720" marB="45720" anchor="ctr">
                    <a:lnL w="9525" cap="flat" cmpd="sng" algn="ctr">
                      <a:solidFill>
                        <a:srgbClr val="26395E"/>
                      </a:solidFill>
                      <a:prstDash val="solid"/>
                      <a:round/>
                      <a:headEnd type="none" w="med" len="med"/>
                      <a:tailEnd type="none" w="med" len="med"/>
                    </a:lnL>
                    <a:lnR w="9525" cap="flat" cmpd="sng" algn="ctr">
                      <a:solidFill>
                        <a:srgbClr val="26395E"/>
                      </a:solidFill>
                      <a:prstDash val="solid"/>
                      <a:round/>
                      <a:headEnd type="none" w="med" len="med"/>
                      <a:tailEnd type="none" w="med" len="med"/>
                    </a:lnR>
                    <a:lnT w="9525" cap="flat" cmpd="sng" algn="ctr">
                      <a:solidFill>
                        <a:srgbClr val="26395E"/>
                      </a:solidFill>
                      <a:prstDash val="solid"/>
                      <a:round/>
                      <a:headEnd type="none" w="med" len="med"/>
                      <a:tailEnd type="none" w="med" len="med"/>
                    </a:lnT>
                    <a:lnB w="9525" cap="flat" cmpd="sng" algn="ctr">
                      <a:solidFill>
                        <a:srgbClr val="26395E"/>
                      </a:solidFill>
                      <a:prstDash val="solid"/>
                      <a:round/>
                      <a:headEnd type="none" w="med" len="med"/>
                      <a:tailEnd type="none" w="med" len="med"/>
                    </a:lnB>
                    <a:solidFill>
                      <a:srgbClr val="111A2E"/>
                    </a:solidFill>
                  </a:tcPr>
                </a:tc>
              </a:tr>
            </a:tbl>
          </a:graphicData>
        </a:graphic>
      </p:graphicFrame>
      <p:sp>
        <p:nvSpPr>
          <p:cNvPr id="12" name="Shape 8"/>
          <p:cNvSpPr/>
          <p:nvPr/>
        </p:nvSpPr>
        <p:spPr>
          <a:xfrm>
            <a:off x="7223760" y="4224528"/>
            <a:ext cx="4462272" cy="1901952"/>
          </a:xfrm>
          <a:prstGeom prst="roundRect">
            <a:avLst>
              <a:gd name="adj" fmla="val 4327"/>
            </a:avLst>
          </a:prstGeom>
          <a:solidFill>
            <a:srgbClr val="111A2E"/>
          </a:solidFill>
          <a:ln w="12700">
            <a:solidFill>
              <a:srgbClr val="26395E"/>
            </a:solidFill>
            <a:prstDash val="solid"/>
          </a:ln>
        </p:spPr>
      </p:sp>
      <p:sp>
        <p:nvSpPr>
          <p:cNvPr id="13" name="Text 9"/>
          <p:cNvSpPr/>
          <p:nvPr/>
        </p:nvSpPr>
        <p:spPr>
          <a:xfrm>
            <a:off x="7461504" y="4361688"/>
            <a:ext cx="3931920" cy="274320"/>
          </a:xfrm>
          <a:prstGeom prst="rect">
            <a:avLst/>
          </a:prstGeom>
          <a:noFill/>
          <a:ln/>
        </p:spPr>
        <p:txBody>
          <a:bodyPr wrap="square" lIns="0" tIns="0" rIns="0" bIns="0" rtlCol="0" anchor="ctr"/>
          <a:lstStyle/>
          <a:p>
            <a:pPr indent="0" marL="0">
              <a:buNone/>
            </a:pPr>
            <a:r>
              <a:rPr lang="en-US" sz="1300" b="1" dirty="0">
                <a:solidFill>
                  <a:srgbClr val="FFBE55"/>
                </a:solidFill>
                <a:latin typeface="Arial" pitchFamily="34" charset="0"/>
                <a:ea typeface="Arial" pitchFamily="34" charset="-122"/>
                <a:cs typeface="Arial" pitchFamily="34" charset="-120"/>
              </a:rPr>
              <a:t>Why the champion is better</a:t>
            </a:r>
            <a:endParaRPr lang="en-US" sz="1300" dirty="0"/>
          </a:p>
        </p:txBody>
      </p:sp>
      <p:sp>
        <p:nvSpPr>
          <p:cNvPr id="14" name="Text 10"/>
          <p:cNvSpPr/>
          <p:nvPr/>
        </p:nvSpPr>
        <p:spPr>
          <a:xfrm>
            <a:off x="7461504" y="4681728"/>
            <a:ext cx="4023360" cy="1371600"/>
          </a:xfrm>
          <a:prstGeom prst="rect">
            <a:avLst/>
          </a:prstGeom>
          <a:noFill/>
          <a:ln/>
        </p:spPr>
        <p:txBody>
          <a:bodyPr wrap="square" lIns="0" tIns="0" rIns="0" bIns="0" rtlCol="0" anchor="t"/>
          <a:lstStyle/>
          <a:p>
            <a:pPr algn="l" marL="127000" indent="-127000">
              <a:spcAft>
                <a:spcPts val="500"/>
              </a:spcAft>
              <a:buSzPct val="100000"/>
              <a:buChar char="•"/>
            </a:pPr>
            <a:r>
              <a:rPr lang="en-US" sz="1000" dirty="0">
                <a:solidFill>
                  <a:srgbClr val="9AA8C7"/>
                </a:solidFill>
                <a:latin typeface="Arial" pitchFamily="34" charset="0"/>
                <a:ea typeface="Arial" pitchFamily="34" charset="-122"/>
                <a:cs typeface="Arial" pitchFamily="34" charset="-120"/>
              </a:rPr>
              <a:t>Best CV R² (0.46) and best test R² (0.51) with the lowest error; the gain over the best linear model (+0.08 CV R²) comes from sector-funding interactions.</a:t>
            </a:r>
            <a:endParaRPr lang="en-US" sz="1000" dirty="0"/>
          </a:p>
          <a:p>
            <a:pPr algn="l" marL="127000" indent="-127000">
              <a:spcAft>
                <a:spcPts val="500"/>
              </a:spcAft>
              <a:buSzPct val="100000"/>
              <a:buChar char="•"/>
            </a:pPr>
            <a:r>
              <a:rPr lang="en-US" sz="1000" dirty="0">
                <a:solidFill>
                  <a:srgbClr val="9AA8C7"/>
                </a:solidFill>
                <a:latin typeface="Arial" pitchFamily="34" charset="0"/>
                <a:ea typeface="Arial" pitchFamily="34" charset="-122"/>
                <a:cs typeface="Arial" pitchFamily="34" charset="-120"/>
              </a:rPr>
              <a:t>Beats Random Forest with a 3x smaller, shallower ensemble (200 trees, depth 2 vs 600, depth 4), and its CV-to-test gap shows no overfitting.</a:t>
            </a:r>
            <a:endParaRPr lang="en-US" sz="1000" dirty="0"/>
          </a:p>
          <a:p>
            <a:pPr algn="l" marL="127000" indent="-127000">
              <a:spcAft>
                <a:spcPts val="500"/>
              </a:spcAft>
              <a:buSzPct val="100000"/>
              <a:buChar char="•"/>
            </a:pPr>
            <a:r>
              <a:rPr lang="en-US" sz="1000" dirty="0">
                <a:solidFill>
                  <a:srgbClr val="9AA8C7"/>
                </a:solidFill>
                <a:latin typeface="Arial" pitchFamily="34" charset="0"/>
                <a:ea typeface="Arial" pitchFamily="34" charset="-122"/>
                <a:cs typeface="Arial" pitchFamily="34" charset="-120"/>
              </a:rPr>
              <a:t>OLS is retained as the explanation layer for VC Scout narratives.</a:t>
            </a:r>
            <a:endParaRPr lang="en-US" sz="1000" dirty="0"/>
          </a:p>
        </p:txBody>
      </p:sp>
      <p:sp>
        <p:nvSpPr>
          <p:cNvPr id="15" name="Text 11"/>
          <p:cNvSpPr/>
          <p:nvPr/>
        </p:nvSpPr>
        <p:spPr>
          <a:xfrm>
            <a:off x="502920" y="6473952"/>
            <a:ext cx="8686800" cy="274320"/>
          </a:xfrm>
          <a:prstGeom prst="rect">
            <a:avLst/>
          </a:prstGeom>
          <a:noFill/>
          <a:ln/>
        </p:spPr>
        <p:txBody>
          <a:bodyPr wrap="square" lIns="0" tIns="0" rIns="0" bIns="0" rtlCol="0" anchor="ctr"/>
          <a:lstStyle/>
          <a:p>
            <a:pPr algn="l" indent="0" marL="0">
              <a:buNone/>
            </a:pPr>
            <a:r>
              <a:rPr lang="en-US" sz="900" b="1" dirty="0">
                <a:solidFill>
                  <a:srgbClr val="EAF2FF"/>
                </a:solidFill>
                <a:latin typeface="Arial" pitchFamily="34" charset="0"/>
                <a:ea typeface="Arial" pitchFamily="34" charset="-122"/>
                <a:cs typeface="Arial" pitchFamily="34" charset="-120"/>
              </a:rPr>
              <a:t>Team 17</a:t>
            </a:r>
            <a:pPr algn="l" indent="0" marL="0">
              <a:buNone/>
            </a:pPr>
            <a:r>
              <a:rPr lang="en-US" sz="900" dirty="0">
                <a:solidFill>
                  <a:srgbClr val="9AA8C7"/>
                </a:solidFill>
                <a:latin typeface="Arial" pitchFamily="34" charset="0"/>
                <a:ea typeface="Arial" pitchFamily="34" charset="-122"/>
                <a:cs typeface="Arial" pitchFamily="34" charset="-120"/>
              </a:rPr>
              <a:t>   |   Startup Growth &amp; Investment   |   Model Definition &amp; Initial Results</a:t>
            </a:r>
            <a:endParaRPr lang="en-US" sz="900" dirty="0"/>
          </a:p>
        </p:txBody>
      </p:sp>
      <p:sp>
        <p:nvSpPr>
          <p:cNvPr id="16" name="Text 12"/>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900" dirty="0">
                <a:solidFill>
                  <a:srgbClr val="9AA8C7"/>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020"/>
        </a:solidFill>
      </p:bgPr>
    </p:bg>
    <p:spTree>
      <p:nvGrpSpPr>
        <p:cNvPr id="1" name=""/>
        <p:cNvGrpSpPr/>
        <p:nvPr/>
      </p:nvGrpSpPr>
      <p:grpSpPr>
        <a:xfrm>
          <a:off x="0" y="0"/>
          <a:ext cx="0" cy="0"/>
          <a:chOff x="0" y="0"/>
          <a:chExt cx="0" cy="0"/>
        </a:xfrm>
      </p:grpSpPr>
      <p:sp>
        <p:nvSpPr>
          <p:cNvPr id="2" name="Shape 0"/>
          <p:cNvSpPr/>
          <p:nvPr/>
        </p:nvSpPr>
        <p:spPr>
          <a:xfrm>
            <a:off x="-2011680" y="4480560"/>
            <a:ext cx="5943600" cy="4754880"/>
          </a:xfrm>
          <a:prstGeom prst="ellipse">
            <a:avLst/>
          </a:prstGeom>
          <a:solidFill>
            <a:srgbClr val="17473E">
              <a:alpha val="65000"/>
            </a:srgbClr>
          </a:solidFill>
          <a:ln/>
        </p:spPr>
      </p:sp>
      <p:sp>
        <p:nvSpPr>
          <p:cNvPr id="3" name="Shape 1"/>
          <p:cNvSpPr/>
          <p:nvPr/>
        </p:nvSpPr>
        <p:spPr>
          <a:xfrm>
            <a:off x="9509760" y="-2377440"/>
            <a:ext cx="5303520" cy="4937760"/>
          </a:xfrm>
          <a:prstGeom prst="ellipse">
            <a:avLst/>
          </a:prstGeom>
          <a:solidFill>
            <a:srgbClr val="35275D">
              <a:alpha val="70000"/>
            </a:srgbClr>
          </a:solidFill>
          <a:ln/>
        </p:spPr>
      </p:sp>
      <p:sp>
        <p:nvSpPr>
          <p:cNvPr id="4" name="Shape 2"/>
          <p:cNvSpPr/>
          <p:nvPr/>
        </p:nvSpPr>
        <p:spPr>
          <a:xfrm>
            <a:off x="502920" y="384048"/>
            <a:ext cx="1961388" cy="310896"/>
          </a:xfrm>
          <a:prstGeom prst="roundRect">
            <a:avLst>
              <a:gd name="adj" fmla="val 50000"/>
            </a:avLst>
          </a:prstGeom>
          <a:solidFill>
            <a:srgbClr val="5EA1FF"/>
          </a:solidFill>
          <a:ln/>
        </p:spPr>
      </p:sp>
      <p:sp>
        <p:nvSpPr>
          <p:cNvPr id="5" name="Text 3"/>
          <p:cNvSpPr/>
          <p:nvPr/>
        </p:nvSpPr>
        <p:spPr>
          <a:xfrm>
            <a:off x="502920" y="384048"/>
            <a:ext cx="1961388" cy="310896"/>
          </a:xfrm>
          <a:prstGeom prst="rect">
            <a:avLst/>
          </a:prstGeom>
          <a:noFill/>
          <a:ln/>
        </p:spPr>
        <p:txBody>
          <a:bodyPr wrap="none" lIns="0" tIns="0" rIns="0" bIns="0" rtlCol="0" anchor="ctr"/>
          <a:lstStyle/>
          <a:p>
            <a:pPr algn="ctr" indent="0" marL="0">
              <a:buNone/>
            </a:pPr>
            <a:r>
              <a:rPr lang="en-US" sz="1050" b="1" spc="100" kern="0" dirty="0">
                <a:solidFill>
                  <a:srgbClr val="0A1020"/>
                </a:solidFill>
                <a:latin typeface="Arial" pitchFamily="34" charset="0"/>
                <a:ea typeface="Arial" pitchFamily="34" charset="-122"/>
                <a:cs typeface="Arial" pitchFamily="34" charset="-120"/>
              </a:rPr>
              <a:t>INITIAL RESULTS</a:t>
            </a:r>
            <a:endParaRPr lang="en-US" sz="1050" dirty="0"/>
          </a:p>
        </p:txBody>
      </p:sp>
      <p:sp>
        <p:nvSpPr>
          <p:cNvPr id="6" name="Text 4"/>
          <p:cNvSpPr/>
          <p:nvPr/>
        </p:nvSpPr>
        <p:spPr>
          <a:xfrm>
            <a:off x="502920" y="749808"/>
            <a:ext cx="11155680" cy="566928"/>
          </a:xfrm>
          <a:prstGeom prst="rect">
            <a:avLst/>
          </a:prstGeom>
          <a:noFill/>
          <a:ln/>
        </p:spPr>
        <p:txBody>
          <a:bodyPr wrap="square" lIns="0" tIns="0" rIns="0" bIns="0" rtlCol="0" anchor="ctr"/>
          <a:lstStyle/>
          <a:p>
            <a:pPr indent="0" marL="0">
              <a:buNone/>
            </a:pPr>
            <a:r>
              <a:rPr lang="en-US" sz="2700" b="1" dirty="0">
                <a:solidFill>
                  <a:srgbClr val="EAF2FF"/>
                </a:solidFill>
                <a:latin typeface="Arial" pitchFamily="34" charset="0"/>
                <a:ea typeface="Arial" pitchFamily="34" charset="-122"/>
                <a:cs typeface="Arial" pitchFamily="34" charset="-120"/>
              </a:rPr>
              <a:t>The champion predicts valuation scale, not exact price tags</a:t>
            </a:r>
            <a:endParaRPr lang="en-US" sz="2700" dirty="0"/>
          </a:p>
        </p:txBody>
      </p:sp>
      <p:sp>
        <p:nvSpPr>
          <p:cNvPr id="7" name="Text 5"/>
          <p:cNvSpPr/>
          <p:nvPr/>
        </p:nvSpPr>
        <p:spPr>
          <a:xfrm>
            <a:off x="502920" y="1316736"/>
            <a:ext cx="11155680" cy="310896"/>
          </a:xfrm>
          <a:prstGeom prst="rect">
            <a:avLst/>
          </a:prstGeom>
          <a:noFill/>
          <a:ln/>
        </p:spPr>
        <p:txBody>
          <a:bodyPr wrap="square" lIns="0" tIns="0" rIns="0" bIns="0" rtlCol="0" anchor="ctr"/>
          <a:lstStyle/>
          <a:p>
            <a:pPr indent="0" marL="0">
              <a:buNone/>
            </a:pPr>
            <a:r>
              <a:rPr lang="en-US" sz="1250" i="1" dirty="0">
                <a:solidFill>
                  <a:srgbClr val="9AA8C7"/>
                </a:solidFill>
                <a:latin typeface="Arial" pitchFamily="34" charset="0"/>
                <a:ea typeface="Arial" pitchFamily="34" charset="-122"/>
                <a:cs typeface="Arial" pitchFamily="34" charset="-120"/>
              </a:rPr>
              <a:t>Held-out predictions track actual valuations across two orders of magnitude on the 212 unseen companies.</a:t>
            </a:r>
            <a:endParaRPr lang="en-US" sz="1250" dirty="0"/>
          </a:p>
        </p:txBody>
      </p:sp>
      <p:sp>
        <p:nvSpPr>
          <p:cNvPr id="8" name="Shape 6"/>
          <p:cNvSpPr/>
          <p:nvPr/>
        </p:nvSpPr>
        <p:spPr>
          <a:xfrm>
            <a:off x="502920" y="1828800"/>
            <a:ext cx="5623560" cy="4297680"/>
          </a:xfrm>
          <a:prstGeom prst="roundRect">
            <a:avLst>
              <a:gd name="adj" fmla="val 1915"/>
            </a:avLst>
          </a:prstGeom>
          <a:solidFill>
            <a:srgbClr val="111A2E"/>
          </a:solidFill>
          <a:ln w="12700">
            <a:solidFill>
              <a:srgbClr val="26395E"/>
            </a:solidFill>
            <a:prstDash val="solid"/>
          </a:ln>
        </p:spPr>
      </p:sp>
      <p:pic>
        <p:nvPicPr>
          <p:cNvPr id="9" name="Image 0" descr="/private/tmp/claude-501/-Users-kayvon-Capstone-Project-Cornell/1969d4a9-eb5b-4b12-94db-282109d9f508/scratchpad/chart_pred_vs_actual.png">    </p:cNvPr>
          <p:cNvPicPr>
            <a:picLocks noChangeAspect="1"/>
          </p:cNvPicPr>
          <p:nvPr/>
        </p:nvPicPr>
        <p:blipFill>
          <a:blip r:embed="rId1"/>
          <a:stretch>
            <a:fillRect/>
          </a:stretch>
        </p:blipFill>
        <p:spPr>
          <a:xfrm>
            <a:off x="960120" y="2103120"/>
            <a:ext cx="4709160" cy="3886200"/>
          </a:xfrm>
          <a:prstGeom prst="rect">
            <a:avLst/>
          </a:prstGeom>
        </p:spPr>
      </p:pic>
      <p:sp>
        <p:nvSpPr>
          <p:cNvPr id="10" name="Text 7"/>
          <p:cNvSpPr/>
          <p:nvPr/>
        </p:nvSpPr>
        <p:spPr>
          <a:xfrm>
            <a:off x="685800" y="1865376"/>
            <a:ext cx="5257800" cy="237744"/>
          </a:xfrm>
          <a:prstGeom prst="rect">
            <a:avLst/>
          </a:prstGeom>
          <a:noFill/>
          <a:ln/>
        </p:spPr>
        <p:txBody>
          <a:bodyPr wrap="square" lIns="0" tIns="0" rIns="0" bIns="0" rtlCol="0" anchor="ctr"/>
          <a:lstStyle/>
          <a:p>
            <a:pPr algn="ctr" indent="0" marL="0">
              <a:buNone/>
            </a:pPr>
            <a:r>
              <a:rPr lang="en-US" sz="1100" b="1" dirty="0">
                <a:solidFill>
                  <a:srgbClr val="EAF2FF"/>
                </a:solidFill>
                <a:latin typeface="Arial" pitchFamily="34" charset="0"/>
                <a:ea typeface="Arial" pitchFamily="34" charset="-122"/>
                <a:cs typeface="Arial" pitchFamily="34" charset="-120"/>
              </a:rPr>
              <a:t>Predicted vs actual valuation, held-out test set</a:t>
            </a:r>
            <a:endParaRPr lang="en-US" sz="1100" dirty="0"/>
          </a:p>
        </p:txBody>
      </p:sp>
      <p:sp>
        <p:nvSpPr>
          <p:cNvPr id="11" name="Shape 8"/>
          <p:cNvSpPr/>
          <p:nvPr/>
        </p:nvSpPr>
        <p:spPr>
          <a:xfrm>
            <a:off x="6355080" y="1828800"/>
            <a:ext cx="5330952" cy="2011680"/>
          </a:xfrm>
          <a:prstGeom prst="roundRect">
            <a:avLst>
              <a:gd name="adj" fmla="val 4091"/>
            </a:avLst>
          </a:prstGeom>
          <a:solidFill>
            <a:srgbClr val="111A2E"/>
          </a:solidFill>
          <a:ln w="12700">
            <a:solidFill>
              <a:srgbClr val="26395E"/>
            </a:solidFill>
            <a:prstDash val="solid"/>
          </a:ln>
        </p:spPr>
      </p:sp>
      <p:sp>
        <p:nvSpPr>
          <p:cNvPr id="12" name="Text 9"/>
          <p:cNvSpPr/>
          <p:nvPr/>
        </p:nvSpPr>
        <p:spPr>
          <a:xfrm>
            <a:off x="6601968" y="1984248"/>
            <a:ext cx="4846320" cy="274320"/>
          </a:xfrm>
          <a:prstGeom prst="rect">
            <a:avLst/>
          </a:prstGeom>
          <a:noFill/>
          <a:ln/>
        </p:spPr>
        <p:txBody>
          <a:bodyPr wrap="square" lIns="0" tIns="0" rIns="0" bIns="0" rtlCol="0" anchor="ctr"/>
          <a:lstStyle/>
          <a:p>
            <a:pPr indent="0" marL="0">
              <a:buNone/>
            </a:pPr>
            <a:r>
              <a:rPr lang="en-US" sz="1300" b="1" dirty="0">
                <a:solidFill>
                  <a:srgbClr val="35E7C3"/>
                </a:solidFill>
                <a:latin typeface="Arial" pitchFamily="34" charset="0"/>
                <a:ea typeface="Arial" pitchFamily="34" charset="-122"/>
                <a:cs typeface="Arial" pitchFamily="34" charset="-120"/>
              </a:rPr>
              <a:t>How to read this</a:t>
            </a:r>
            <a:endParaRPr lang="en-US" sz="1300" dirty="0"/>
          </a:p>
        </p:txBody>
      </p:sp>
      <p:sp>
        <p:nvSpPr>
          <p:cNvPr id="13" name="Text 10"/>
          <p:cNvSpPr/>
          <p:nvPr/>
        </p:nvSpPr>
        <p:spPr>
          <a:xfrm>
            <a:off x="6601968" y="2313432"/>
            <a:ext cx="4846320" cy="1463040"/>
          </a:xfrm>
          <a:prstGeom prst="rect">
            <a:avLst/>
          </a:prstGeom>
          <a:noFill/>
          <a:ln/>
        </p:spPr>
        <p:txBody>
          <a:bodyPr wrap="square" lIns="0" tIns="0" rIns="0" bIns="0" rtlCol="0" anchor="t"/>
          <a:lstStyle/>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Points hug the diagonal through the $1B to $10B core where most unicorns live.</a:t>
            </a:r>
            <a:endParaRPr lang="en-US" sz="1050" dirty="0"/>
          </a:p>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The model compresses mega-outliers: it under-predicts the $100B+ names, which is expected when features stop at funding, sector, geography, and timing.</a:t>
            </a:r>
            <a:endParaRPr lang="en-US" sz="1050" dirty="0"/>
          </a:p>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Median absolute error is 37% of valuation, versus 77% for the naive baseline: roughly half the error, from public fields alone.</a:t>
            </a:r>
            <a:endParaRPr lang="en-US" sz="1050" dirty="0"/>
          </a:p>
        </p:txBody>
      </p:sp>
      <p:sp>
        <p:nvSpPr>
          <p:cNvPr id="14" name="Shape 11"/>
          <p:cNvSpPr/>
          <p:nvPr/>
        </p:nvSpPr>
        <p:spPr>
          <a:xfrm>
            <a:off x="6355080" y="4041648"/>
            <a:ext cx="2587752" cy="960120"/>
          </a:xfrm>
          <a:prstGeom prst="roundRect">
            <a:avLst>
              <a:gd name="adj" fmla="val 8571"/>
            </a:avLst>
          </a:prstGeom>
          <a:solidFill>
            <a:srgbClr val="16203A"/>
          </a:solidFill>
          <a:ln w="12700">
            <a:solidFill>
              <a:srgbClr val="26395E"/>
            </a:solidFill>
            <a:prstDash val="solid"/>
          </a:ln>
        </p:spPr>
      </p:sp>
      <p:sp>
        <p:nvSpPr>
          <p:cNvPr id="15" name="Text 12"/>
          <p:cNvSpPr/>
          <p:nvPr/>
        </p:nvSpPr>
        <p:spPr>
          <a:xfrm>
            <a:off x="6501384" y="4133088"/>
            <a:ext cx="2286000" cy="411480"/>
          </a:xfrm>
          <a:prstGeom prst="rect">
            <a:avLst/>
          </a:prstGeom>
          <a:noFill/>
          <a:ln/>
        </p:spPr>
        <p:txBody>
          <a:bodyPr wrap="square" lIns="0" tIns="0" rIns="0" bIns="0" rtlCol="0" anchor="ctr"/>
          <a:lstStyle/>
          <a:p>
            <a:pPr indent="0" marL="0">
              <a:buNone/>
            </a:pPr>
            <a:r>
              <a:rPr lang="en-US" sz="2100" b="1" dirty="0">
                <a:solidFill>
                  <a:srgbClr val="FFBE55"/>
                </a:solidFill>
                <a:latin typeface="Arial" pitchFamily="34" charset="0"/>
                <a:ea typeface="Arial" pitchFamily="34" charset="-122"/>
                <a:cs typeface="Arial" pitchFamily="34" charset="-120"/>
              </a:rPr>
              <a:t>0.51</a:t>
            </a:r>
            <a:endParaRPr lang="en-US" sz="2100" dirty="0"/>
          </a:p>
        </p:txBody>
      </p:sp>
      <p:sp>
        <p:nvSpPr>
          <p:cNvPr id="16" name="Text 13"/>
          <p:cNvSpPr/>
          <p:nvPr/>
        </p:nvSpPr>
        <p:spPr>
          <a:xfrm>
            <a:off x="6501384" y="4572000"/>
            <a:ext cx="2286000" cy="310896"/>
          </a:xfrm>
          <a:prstGeom prst="rect">
            <a:avLst/>
          </a:prstGeom>
          <a:noFill/>
          <a:ln/>
        </p:spPr>
        <p:txBody>
          <a:bodyPr wrap="square" lIns="0" tIns="0" rIns="0" bIns="0" rtlCol="0" anchor="ctr"/>
          <a:lstStyle/>
          <a:p>
            <a:pPr indent="0" marL="0">
              <a:buNone/>
            </a:pPr>
            <a:r>
              <a:rPr lang="en-US" sz="950" dirty="0">
                <a:solidFill>
                  <a:srgbClr val="9AA8C7"/>
                </a:solidFill>
                <a:latin typeface="Arial" pitchFamily="34" charset="0"/>
                <a:ea typeface="Arial" pitchFamily="34" charset="-122"/>
                <a:cs typeface="Arial" pitchFamily="34" charset="-120"/>
              </a:rPr>
              <a:t>Test R² on ln(Valuation)</a:t>
            </a:r>
            <a:endParaRPr lang="en-US" sz="950" dirty="0"/>
          </a:p>
        </p:txBody>
      </p:sp>
      <p:sp>
        <p:nvSpPr>
          <p:cNvPr id="17" name="Shape 14"/>
          <p:cNvSpPr/>
          <p:nvPr/>
        </p:nvSpPr>
        <p:spPr>
          <a:xfrm>
            <a:off x="9098280" y="4041648"/>
            <a:ext cx="2587752" cy="960120"/>
          </a:xfrm>
          <a:prstGeom prst="roundRect">
            <a:avLst>
              <a:gd name="adj" fmla="val 8571"/>
            </a:avLst>
          </a:prstGeom>
          <a:solidFill>
            <a:srgbClr val="16203A"/>
          </a:solidFill>
          <a:ln w="12700">
            <a:solidFill>
              <a:srgbClr val="26395E"/>
            </a:solidFill>
            <a:prstDash val="solid"/>
          </a:ln>
        </p:spPr>
      </p:sp>
      <p:sp>
        <p:nvSpPr>
          <p:cNvPr id="18" name="Text 15"/>
          <p:cNvSpPr/>
          <p:nvPr/>
        </p:nvSpPr>
        <p:spPr>
          <a:xfrm>
            <a:off x="9244584" y="4133088"/>
            <a:ext cx="2286000" cy="411480"/>
          </a:xfrm>
          <a:prstGeom prst="rect">
            <a:avLst/>
          </a:prstGeom>
          <a:noFill/>
          <a:ln/>
        </p:spPr>
        <p:txBody>
          <a:bodyPr wrap="square" lIns="0" tIns="0" rIns="0" bIns="0" rtlCol="0" anchor="ctr"/>
          <a:lstStyle/>
          <a:p>
            <a:pPr indent="0" marL="0">
              <a:buNone/>
            </a:pPr>
            <a:r>
              <a:rPr lang="en-US" sz="2100" b="1" dirty="0">
                <a:solidFill>
                  <a:srgbClr val="5EA1FF"/>
                </a:solidFill>
                <a:latin typeface="Arial" pitchFamily="34" charset="0"/>
                <a:ea typeface="Arial" pitchFamily="34" charset="-122"/>
                <a:cs typeface="Arial" pitchFamily="34" charset="-120"/>
              </a:rPr>
              <a:t>0.44</a:t>
            </a:r>
            <a:endParaRPr lang="en-US" sz="2100" dirty="0"/>
          </a:p>
        </p:txBody>
      </p:sp>
      <p:sp>
        <p:nvSpPr>
          <p:cNvPr id="19" name="Text 16"/>
          <p:cNvSpPr/>
          <p:nvPr/>
        </p:nvSpPr>
        <p:spPr>
          <a:xfrm>
            <a:off x="9244584" y="4572000"/>
            <a:ext cx="2286000" cy="310896"/>
          </a:xfrm>
          <a:prstGeom prst="rect">
            <a:avLst/>
          </a:prstGeom>
          <a:noFill/>
          <a:ln/>
        </p:spPr>
        <p:txBody>
          <a:bodyPr wrap="square" lIns="0" tIns="0" rIns="0" bIns="0" rtlCol="0" anchor="ctr"/>
          <a:lstStyle/>
          <a:p>
            <a:pPr indent="0" marL="0">
              <a:buNone/>
            </a:pPr>
            <a:r>
              <a:rPr lang="en-US" sz="950" dirty="0">
                <a:solidFill>
                  <a:srgbClr val="9AA8C7"/>
                </a:solidFill>
                <a:latin typeface="Arial" pitchFamily="34" charset="0"/>
                <a:ea typeface="Arial" pitchFamily="34" charset="-122"/>
                <a:cs typeface="Arial" pitchFamily="34" charset="-120"/>
              </a:rPr>
              <a:t>Test MAE in log units</a:t>
            </a:r>
            <a:endParaRPr lang="en-US" sz="950" dirty="0"/>
          </a:p>
        </p:txBody>
      </p:sp>
      <p:sp>
        <p:nvSpPr>
          <p:cNvPr id="20" name="Shape 17"/>
          <p:cNvSpPr/>
          <p:nvPr/>
        </p:nvSpPr>
        <p:spPr>
          <a:xfrm>
            <a:off x="6355080" y="5120640"/>
            <a:ext cx="2587752" cy="960120"/>
          </a:xfrm>
          <a:prstGeom prst="roundRect">
            <a:avLst>
              <a:gd name="adj" fmla="val 8571"/>
            </a:avLst>
          </a:prstGeom>
          <a:solidFill>
            <a:srgbClr val="16203A"/>
          </a:solidFill>
          <a:ln w="12700">
            <a:solidFill>
              <a:srgbClr val="26395E"/>
            </a:solidFill>
            <a:prstDash val="solid"/>
          </a:ln>
        </p:spPr>
      </p:sp>
      <p:sp>
        <p:nvSpPr>
          <p:cNvPr id="21" name="Text 18"/>
          <p:cNvSpPr/>
          <p:nvPr/>
        </p:nvSpPr>
        <p:spPr>
          <a:xfrm>
            <a:off x="6501384" y="5212080"/>
            <a:ext cx="2286000" cy="411480"/>
          </a:xfrm>
          <a:prstGeom prst="rect">
            <a:avLst/>
          </a:prstGeom>
          <a:noFill/>
          <a:ln/>
        </p:spPr>
        <p:txBody>
          <a:bodyPr wrap="square" lIns="0" tIns="0" rIns="0" bIns="0" rtlCol="0" anchor="ctr"/>
          <a:lstStyle/>
          <a:p>
            <a:pPr indent="0" marL="0">
              <a:buNone/>
            </a:pPr>
            <a:r>
              <a:rPr lang="en-US" sz="2100" b="1" dirty="0">
                <a:solidFill>
                  <a:srgbClr val="35E7C3"/>
                </a:solidFill>
                <a:latin typeface="Arial" pitchFamily="34" charset="0"/>
                <a:ea typeface="Arial" pitchFamily="34" charset="-122"/>
                <a:cs typeface="Arial" pitchFamily="34" charset="-120"/>
              </a:rPr>
              <a:t>37%</a:t>
            </a:r>
            <a:endParaRPr lang="en-US" sz="2100" dirty="0"/>
          </a:p>
        </p:txBody>
      </p:sp>
      <p:sp>
        <p:nvSpPr>
          <p:cNvPr id="22" name="Text 19"/>
          <p:cNvSpPr/>
          <p:nvPr/>
        </p:nvSpPr>
        <p:spPr>
          <a:xfrm>
            <a:off x="6501384" y="5650992"/>
            <a:ext cx="2286000" cy="310896"/>
          </a:xfrm>
          <a:prstGeom prst="rect">
            <a:avLst/>
          </a:prstGeom>
          <a:noFill/>
          <a:ln/>
        </p:spPr>
        <p:txBody>
          <a:bodyPr wrap="square" lIns="0" tIns="0" rIns="0" bIns="0" rtlCol="0" anchor="ctr"/>
          <a:lstStyle/>
          <a:p>
            <a:pPr indent="0" marL="0">
              <a:buNone/>
            </a:pPr>
            <a:r>
              <a:rPr lang="en-US" sz="950" dirty="0">
                <a:solidFill>
                  <a:srgbClr val="9AA8C7"/>
                </a:solidFill>
                <a:latin typeface="Arial" pitchFamily="34" charset="0"/>
                <a:ea typeface="Arial" pitchFamily="34" charset="-122"/>
                <a:cs typeface="Arial" pitchFamily="34" charset="-120"/>
              </a:rPr>
              <a:t>Median abs. % error</a:t>
            </a:r>
            <a:endParaRPr lang="en-US" sz="950" dirty="0"/>
          </a:p>
        </p:txBody>
      </p:sp>
      <p:sp>
        <p:nvSpPr>
          <p:cNvPr id="23" name="Shape 20"/>
          <p:cNvSpPr/>
          <p:nvPr/>
        </p:nvSpPr>
        <p:spPr>
          <a:xfrm>
            <a:off x="9098280" y="5120640"/>
            <a:ext cx="2587752" cy="960120"/>
          </a:xfrm>
          <a:prstGeom prst="roundRect">
            <a:avLst>
              <a:gd name="adj" fmla="val 8571"/>
            </a:avLst>
          </a:prstGeom>
          <a:solidFill>
            <a:srgbClr val="16203A"/>
          </a:solidFill>
          <a:ln w="12700">
            <a:solidFill>
              <a:srgbClr val="26395E"/>
            </a:solidFill>
            <a:prstDash val="solid"/>
          </a:ln>
        </p:spPr>
      </p:sp>
      <p:sp>
        <p:nvSpPr>
          <p:cNvPr id="24" name="Text 21"/>
          <p:cNvSpPr/>
          <p:nvPr/>
        </p:nvSpPr>
        <p:spPr>
          <a:xfrm>
            <a:off x="9244584" y="5212080"/>
            <a:ext cx="2286000" cy="411480"/>
          </a:xfrm>
          <a:prstGeom prst="rect">
            <a:avLst/>
          </a:prstGeom>
          <a:noFill/>
          <a:ln/>
        </p:spPr>
        <p:txBody>
          <a:bodyPr wrap="square" lIns="0" tIns="0" rIns="0" bIns="0" rtlCol="0" anchor="ctr"/>
          <a:lstStyle/>
          <a:p>
            <a:pPr indent="0" marL="0">
              <a:buNone/>
            </a:pPr>
            <a:r>
              <a:rPr lang="en-US" sz="2100" b="1" dirty="0">
                <a:solidFill>
                  <a:srgbClr val="FF6B7A"/>
                </a:solidFill>
                <a:latin typeface="Arial" pitchFamily="34" charset="0"/>
                <a:ea typeface="Arial" pitchFamily="34" charset="-122"/>
                <a:cs typeface="Arial" pitchFamily="34" charset="-120"/>
              </a:rPr>
              <a:t>77%</a:t>
            </a:r>
            <a:endParaRPr lang="en-US" sz="2100" dirty="0"/>
          </a:p>
        </p:txBody>
      </p:sp>
      <p:sp>
        <p:nvSpPr>
          <p:cNvPr id="25" name="Text 22"/>
          <p:cNvSpPr/>
          <p:nvPr/>
        </p:nvSpPr>
        <p:spPr>
          <a:xfrm>
            <a:off x="9244584" y="5650992"/>
            <a:ext cx="2286000" cy="310896"/>
          </a:xfrm>
          <a:prstGeom prst="rect">
            <a:avLst/>
          </a:prstGeom>
          <a:noFill/>
          <a:ln/>
        </p:spPr>
        <p:txBody>
          <a:bodyPr wrap="square" lIns="0" tIns="0" rIns="0" bIns="0" rtlCol="0" anchor="ctr"/>
          <a:lstStyle/>
          <a:p>
            <a:pPr indent="0" marL="0">
              <a:buNone/>
            </a:pPr>
            <a:r>
              <a:rPr lang="en-US" sz="950" dirty="0">
                <a:solidFill>
                  <a:srgbClr val="9AA8C7"/>
                </a:solidFill>
                <a:latin typeface="Arial" pitchFamily="34" charset="0"/>
                <a:ea typeface="Arial" pitchFamily="34" charset="-122"/>
                <a:cs typeface="Arial" pitchFamily="34" charset="-120"/>
              </a:rPr>
              <a:t>Baseline median error</a:t>
            </a:r>
            <a:endParaRPr lang="en-US" sz="950" dirty="0"/>
          </a:p>
        </p:txBody>
      </p:sp>
      <p:sp>
        <p:nvSpPr>
          <p:cNvPr id="26" name="Text 23"/>
          <p:cNvSpPr/>
          <p:nvPr/>
        </p:nvSpPr>
        <p:spPr>
          <a:xfrm>
            <a:off x="502920" y="6473952"/>
            <a:ext cx="8686800" cy="274320"/>
          </a:xfrm>
          <a:prstGeom prst="rect">
            <a:avLst/>
          </a:prstGeom>
          <a:noFill/>
          <a:ln/>
        </p:spPr>
        <p:txBody>
          <a:bodyPr wrap="square" lIns="0" tIns="0" rIns="0" bIns="0" rtlCol="0" anchor="ctr"/>
          <a:lstStyle/>
          <a:p>
            <a:pPr algn="l" indent="0" marL="0">
              <a:buNone/>
            </a:pPr>
            <a:r>
              <a:rPr lang="en-US" sz="900" b="1" dirty="0">
                <a:solidFill>
                  <a:srgbClr val="EAF2FF"/>
                </a:solidFill>
                <a:latin typeface="Arial" pitchFamily="34" charset="0"/>
                <a:ea typeface="Arial" pitchFamily="34" charset="-122"/>
                <a:cs typeface="Arial" pitchFamily="34" charset="-120"/>
              </a:rPr>
              <a:t>Team 17</a:t>
            </a:r>
            <a:pPr algn="l" indent="0" marL="0">
              <a:buNone/>
            </a:pPr>
            <a:r>
              <a:rPr lang="en-US" sz="900" dirty="0">
                <a:solidFill>
                  <a:srgbClr val="9AA8C7"/>
                </a:solidFill>
                <a:latin typeface="Arial" pitchFamily="34" charset="0"/>
                <a:ea typeface="Arial" pitchFamily="34" charset="-122"/>
                <a:cs typeface="Arial" pitchFamily="34" charset="-120"/>
              </a:rPr>
              <a:t>   |   Startup Growth &amp; Investment   |   Model Definition &amp; Initial Results</a:t>
            </a:r>
            <a:endParaRPr lang="en-US" sz="900" dirty="0"/>
          </a:p>
        </p:txBody>
      </p:sp>
      <p:sp>
        <p:nvSpPr>
          <p:cNvPr id="27" name="Text 24"/>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900" dirty="0">
                <a:solidFill>
                  <a:srgbClr val="9AA8C7"/>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020"/>
        </a:solidFill>
      </p:bgPr>
    </p:bg>
    <p:spTree>
      <p:nvGrpSpPr>
        <p:cNvPr id="1" name=""/>
        <p:cNvGrpSpPr/>
        <p:nvPr/>
      </p:nvGrpSpPr>
      <p:grpSpPr>
        <a:xfrm>
          <a:off x="0" y="0"/>
          <a:ext cx="0" cy="0"/>
          <a:chOff x="0" y="0"/>
          <a:chExt cx="0" cy="0"/>
        </a:xfrm>
      </p:grpSpPr>
      <p:sp>
        <p:nvSpPr>
          <p:cNvPr id="2" name="Shape 0"/>
          <p:cNvSpPr/>
          <p:nvPr/>
        </p:nvSpPr>
        <p:spPr>
          <a:xfrm>
            <a:off x="9966960" y="4663440"/>
            <a:ext cx="4937760" cy="4206240"/>
          </a:xfrm>
          <a:prstGeom prst="ellipse">
            <a:avLst/>
          </a:prstGeom>
          <a:solidFill>
            <a:srgbClr val="133B5C">
              <a:alpha val="70000"/>
            </a:srgbClr>
          </a:solidFill>
          <a:ln/>
        </p:spPr>
      </p:sp>
      <p:sp>
        <p:nvSpPr>
          <p:cNvPr id="3" name="Shape 1"/>
          <p:cNvSpPr/>
          <p:nvPr/>
        </p:nvSpPr>
        <p:spPr>
          <a:xfrm>
            <a:off x="-2377440" y="-2194560"/>
            <a:ext cx="5120640" cy="4389120"/>
          </a:xfrm>
          <a:prstGeom prst="ellipse">
            <a:avLst/>
          </a:prstGeom>
          <a:solidFill>
            <a:srgbClr val="35275D">
              <a:alpha val="62000"/>
            </a:srgbClr>
          </a:solidFill>
          <a:ln/>
        </p:spPr>
      </p:sp>
      <p:sp>
        <p:nvSpPr>
          <p:cNvPr id="4" name="Shape 2"/>
          <p:cNvSpPr/>
          <p:nvPr/>
        </p:nvSpPr>
        <p:spPr>
          <a:xfrm>
            <a:off x="502920" y="384048"/>
            <a:ext cx="1961388" cy="310896"/>
          </a:xfrm>
          <a:prstGeom prst="roundRect">
            <a:avLst>
              <a:gd name="adj" fmla="val 50000"/>
            </a:avLst>
          </a:prstGeom>
          <a:solidFill>
            <a:srgbClr val="9C7BFF"/>
          </a:solidFill>
          <a:ln/>
        </p:spPr>
      </p:sp>
      <p:sp>
        <p:nvSpPr>
          <p:cNvPr id="5" name="Text 3"/>
          <p:cNvSpPr/>
          <p:nvPr/>
        </p:nvSpPr>
        <p:spPr>
          <a:xfrm>
            <a:off x="502920" y="384048"/>
            <a:ext cx="1961388" cy="310896"/>
          </a:xfrm>
          <a:prstGeom prst="rect">
            <a:avLst/>
          </a:prstGeom>
          <a:noFill/>
          <a:ln/>
        </p:spPr>
        <p:txBody>
          <a:bodyPr wrap="none" lIns="0" tIns="0" rIns="0" bIns="0" rtlCol="0" anchor="ctr"/>
          <a:lstStyle/>
          <a:p>
            <a:pPr algn="ctr" indent="0" marL="0">
              <a:buNone/>
            </a:pPr>
            <a:r>
              <a:rPr lang="en-US" sz="1050" b="1" spc="100" kern="0" dirty="0">
                <a:solidFill>
                  <a:srgbClr val="0A1020"/>
                </a:solidFill>
                <a:latin typeface="Arial" pitchFamily="34" charset="0"/>
                <a:ea typeface="Arial" pitchFamily="34" charset="-122"/>
                <a:cs typeface="Arial" pitchFamily="34" charset="-120"/>
              </a:rPr>
              <a:t>INITIAL RESULTS</a:t>
            </a:r>
            <a:endParaRPr lang="en-US" sz="1050" dirty="0"/>
          </a:p>
        </p:txBody>
      </p:sp>
      <p:sp>
        <p:nvSpPr>
          <p:cNvPr id="6" name="Text 4"/>
          <p:cNvSpPr/>
          <p:nvPr/>
        </p:nvSpPr>
        <p:spPr>
          <a:xfrm>
            <a:off x="502920" y="749808"/>
            <a:ext cx="11155680" cy="566928"/>
          </a:xfrm>
          <a:prstGeom prst="rect">
            <a:avLst/>
          </a:prstGeom>
          <a:noFill/>
          <a:ln/>
        </p:spPr>
        <p:txBody>
          <a:bodyPr wrap="square" lIns="0" tIns="0" rIns="0" bIns="0" rtlCol="0" anchor="ctr"/>
          <a:lstStyle/>
          <a:p>
            <a:pPr indent="0" marL="0">
              <a:buNone/>
            </a:pPr>
            <a:r>
              <a:rPr lang="en-US" sz="2700" b="1" dirty="0">
                <a:solidFill>
                  <a:srgbClr val="EAF2FF"/>
                </a:solidFill>
                <a:latin typeface="Arial" pitchFamily="34" charset="0"/>
                <a:ea typeface="Arial" pitchFamily="34" charset="-122"/>
                <a:cs typeface="Arial" pitchFamily="34" charset="-120"/>
              </a:rPr>
              <a:t>Funding dominates; sector and geography refine the estimate</a:t>
            </a:r>
            <a:endParaRPr lang="en-US" sz="2700" dirty="0"/>
          </a:p>
        </p:txBody>
      </p:sp>
      <p:sp>
        <p:nvSpPr>
          <p:cNvPr id="7" name="Text 5"/>
          <p:cNvSpPr/>
          <p:nvPr/>
        </p:nvSpPr>
        <p:spPr>
          <a:xfrm>
            <a:off x="502920" y="1316736"/>
            <a:ext cx="11155680" cy="310896"/>
          </a:xfrm>
          <a:prstGeom prst="rect">
            <a:avLst/>
          </a:prstGeom>
          <a:noFill/>
          <a:ln/>
        </p:spPr>
        <p:txBody>
          <a:bodyPr wrap="square" lIns="0" tIns="0" rIns="0" bIns="0" rtlCol="0" anchor="ctr"/>
          <a:lstStyle/>
          <a:p>
            <a:pPr indent="0" marL="0">
              <a:buNone/>
            </a:pPr>
            <a:r>
              <a:rPr lang="en-US" sz="1250" i="1" dirty="0">
                <a:solidFill>
                  <a:srgbClr val="9AA8C7"/>
                </a:solidFill>
                <a:latin typeface="Arial" pitchFamily="34" charset="0"/>
                <a:ea typeface="Arial" pitchFamily="34" charset="-122"/>
                <a:cs typeface="Arial" pitchFamily="34" charset="-120"/>
              </a:rPr>
              <a:t>Permutation importance on the test set shows what the champion actually uses, and the funding curve confirms diminishing returns.</a:t>
            </a:r>
            <a:endParaRPr lang="en-US" sz="1250" dirty="0"/>
          </a:p>
        </p:txBody>
      </p:sp>
      <p:sp>
        <p:nvSpPr>
          <p:cNvPr id="8" name="Shape 6"/>
          <p:cNvSpPr/>
          <p:nvPr/>
        </p:nvSpPr>
        <p:spPr>
          <a:xfrm>
            <a:off x="502920" y="1828800"/>
            <a:ext cx="5806440" cy="4297680"/>
          </a:xfrm>
          <a:prstGeom prst="roundRect">
            <a:avLst>
              <a:gd name="adj" fmla="val 1915"/>
            </a:avLst>
          </a:prstGeom>
          <a:solidFill>
            <a:srgbClr val="111A2E"/>
          </a:solidFill>
          <a:ln w="12700">
            <a:solidFill>
              <a:srgbClr val="26395E"/>
            </a:solidFill>
            <a:prstDash val="solid"/>
          </a:ln>
        </p:spPr>
      </p:sp>
      <p:pic>
        <p:nvPicPr>
          <p:cNvPr id="9" name="Image 0" descr="/private/tmp/claude-501/-Users-kayvon-Capstone-Project-Cornell/1969d4a9-eb5b-4b12-94db-282109d9f508/scratchpad/chart_importance.png">    </p:cNvPr>
          <p:cNvPicPr>
            <a:picLocks noChangeAspect="1"/>
          </p:cNvPicPr>
          <p:nvPr/>
        </p:nvPicPr>
        <p:blipFill>
          <a:blip r:embed="rId1"/>
          <a:stretch>
            <a:fillRect/>
          </a:stretch>
        </p:blipFill>
        <p:spPr>
          <a:xfrm>
            <a:off x="731520" y="2121408"/>
            <a:ext cx="5349240" cy="3346704"/>
          </a:xfrm>
          <a:prstGeom prst="rect">
            <a:avLst/>
          </a:prstGeom>
        </p:spPr>
      </p:pic>
      <p:sp>
        <p:nvSpPr>
          <p:cNvPr id="10" name="Text 7"/>
          <p:cNvSpPr/>
          <p:nvPr/>
        </p:nvSpPr>
        <p:spPr>
          <a:xfrm>
            <a:off x="685800" y="1865376"/>
            <a:ext cx="5440680" cy="237744"/>
          </a:xfrm>
          <a:prstGeom prst="rect">
            <a:avLst/>
          </a:prstGeom>
          <a:noFill/>
          <a:ln/>
        </p:spPr>
        <p:txBody>
          <a:bodyPr wrap="square" lIns="0" tIns="0" rIns="0" bIns="0" rtlCol="0" anchor="ctr"/>
          <a:lstStyle/>
          <a:p>
            <a:pPr algn="ctr" indent="0" marL="0">
              <a:buNone/>
            </a:pPr>
            <a:r>
              <a:rPr lang="en-US" sz="1100" b="1" dirty="0">
                <a:solidFill>
                  <a:srgbClr val="EAF2FF"/>
                </a:solidFill>
                <a:latin typeface="Arial" pitchFamily="34" charset="0"/>
                <a:ea typeface="Arial" pitchFamily="34" charset="-122"/>
                <a:cs typeface="Arial" pitchFamily="34" charset="-120"/>
              </a:rPr>
              <a:t>Permutation importance, champion model</a:t>
            </a:r>
            <a:endParaRPr lang="en-US" sz="1100" dirty="0"/>
          </a:p>
        </p:txBody>
      </p:sp>
      <p:sp>
        <p:nvSpPr>
          <p:cNvPr id="11" name="Text 8"/>
          <p:cNvSpPr/>
          <p:nvPr/>
        </p:nvSpPr>
        <p:spPr>
          <a:xfrm>
            <a:off x="777240" y="5486400"/>
            <a:ext cx="5257800" cy="566928"/>
          </a:xfrm>
          <a:prstGeom prst="rect">
            <a:avLst/>
          </a:prstGeom>
          <a:noFill/>
          <a:ln/>
        </p:spPr>
        <p:txBody>
          <a:bodyPr wrap="square" lIns="0" tIns="0" rIns="0" bIns="0" rtlCol="0" anchor="ctr"/>
          <a:lstStyle/>
          <a:p>
            <a:pPr indent="0" marL="0">
              <a:buNone/>
            </a:pPr>
            <a:r>
              <a:rPr lang="en-US" sz="1000" i="1" dirty="0">
                <a:solidFill>
                  <a:srgbClr val="9AA8C7"/>
                </a:solidFill>
                <a:latin typeface="Arial" pitchFamily="34" charset="0"/>
                <a:ea typeface="Arial" pitchFamily="34" charset="-122"/>
                <a:cs typeface="Arial" pitchFamily="34" charset="-120"/>
              </a:rPr>
              <a:t>Shuffling ln(Funding) destroys 1.16 points of R² (the drop exceeds 1.0 because shuffled predictions score below zero). Industry (0.06) and Continent (0.05) add real but secondary signal; era, investor count, and speed add little once funding is known.</a:t>
            </a:r>
            <a:endParaRPr lang="en-US" sz="1000" dirty="0"/>
          </a:p>
        </p:txBody>
      </p:sp>
      <p:sp>
        <p:nvSpPr>
          <p:cNvPr id="12" name="Shape 9"/>
          <p:cNvSpPr/>
          <p:nvPr/>
        </p:nvSpPr>
        <p:spPr>
          <a:xfrm>
            <a:off x="6537960" y="1828800"/>
            <a:ext cx="5148072" cy="3063240"/>
          </a:xfrm>
          <a:prstGeom prst="roundRect">
            <a:avLst>
              <a:gd name="adj" fmla="val 2687"/>
            </a:avLst>
          </a:prstGeom>
          <a:solidFill>
            <a:srgbClr val="111A2E"/>
          </a:solidFill>
          <a:ln w="12700">
            <a:solidFill>
              <a:srgbClr val="26395E"/>
            </a:solidFill>
            <a:prstDash val="solid"/>
          </a:ln>
        </p:spPr>
      </p:sp>
      <p:pic>
        <p:nvPicPr>
          <p:cNvPr id="13" name="Image 1" descr="/private/tmp/claude-501/-Users-kayvon-Capstone-Project-Cornell/1969d4a9-eb5b-4b12-94db-282109d9f508/scratchpad/chart_pdp_funding.png">    </p:cNvPr>
          <p:cNvPicPr>
            <a:picLocks noChangeAspect="1"/>
          </p:cNvPicPr>
          <p:nvPr/>
        </p:nvPicPr>
        <p:blipFill>
          <a:blip r:embed="rId2"/>
          <a:stretch>
            <a:fillRect/>
          </a:stretch>
        </p:blipFill>
        <p:spPr>
          <a:xfrm>
            <a:off x="6949440" y="2103120"/>
            <a:ext cx="4325112" cy="2697480"/>
          </a:xfrm>
          <a:prstGeom prst="rect">
            <a:avLst/>
          </a:prstGeom>
        </p:spPr>
      </p:pic>
      <p:sp>
        <p:nvSpPr>
          <p:cNvPr id="14" name="Text 10"/>
          <p:cNvSpPr/>
          <p:nvPr/>
        </p:nvSpPr>
        <p:spPr>
          <a:xfrm>
            <a:off x="6720840" y="1865376"/>
            <a:ext cx="4782312" cy="237744"/>
          </a:xfrm>
          <a:prstGeom prst="rect">
            <a:avLst/>
          </a:prstGeom>
          <a:noFill/>
          <a:ln/>
        </p:spPr>
        <p:txBody>
          <a:bodyPr wrap="square" lIns="0" tIns="0" rIns="0" bIns="0" rtlCol="0" anchor="ctr"/>
          <a:lstStyle/>
          <a:p>
            <a:pPr algn="ctr" indent="0" marL="0">
              <a:buNone/>
            </a:pPr>
            <a:r>
              <a:rPr lang="en-US" sz="1100" b="1" dirty="0">
                <a:solidFill>
                  <a:srgbClr val="EAF2FF"/>
                </a:solidFill>
                <a:latin typeface="Arial" pitchFamily="34" charset="0"/>
                <a:ea typeface="Arial" pitchFamily="34" charset="-122"/>
                <a:cs typeface="Arial" pitchFamily="34" charset="-120"/>
              </a:rPr>
              <a:t>Partial dependence: valuation vs funding</a:t>
            </a:r>
            <a:endParaRPr lang="en-US" sz="1100" dirty="0"/>
          </a:p>
        </p:txBody>
      </p:sp>
      <p:sp>
        <p:nvSpPr>
          <p:cNvPr id="15" name="Shape 11"/>
          <p:cNvSpPr/>
          <p:nvPr/>
        </p:nvSpPr>
        <p:spPr>
          <a:xfrm>
            <a:off x="6537960" y="5047488"/>
            <a:ext cx="5148072" cy="1078992"/>
          </a:xfrm>
          <a:prstGeom prst="roundRect">
            <a:avLst>
              <a:gd name="adj" fmla="val 7627"/>
            </a:avLst>
          </a:prstGeom>
          <a:solidFill>
            <a:srgbClr val="16203A"/>
          </a:solidFill>
          <a:ln w="12700">
            <a:solidFill>
              <a:srgbClr val="26395E"/>
            </a:solidFill>
            <a:prstDash val="solid"/>
          </a:ln>
        </p:spPr>
      </p:sp>
      <p:sp>
        <p:nvSpPr>
          <p:cNvPr id="16" name="Text 12"/>
          <p:cNvSpPr/>
          <p:nvPr/>
        </p:nvSpPr>
        <p:spPr>
          <a:xfrm>
            <a:off x="6784848" y="5193792"/>
            <a:ext cx="4663440" cy="822960"/>
          </a:xfrm>
          <a:prstGeom prst="rect">
            <a:avLst/>
          </a:prstGeom>
          <a:noFill/>
          <a:ln/>
        </p:spPr>
        <p:txBody>
          <a:bodyPr wrap="square" lIns="0" tIns="0" rIns="0" bIns="0" rtlCol="0" anchor="ctr"/>
          <a:lstStyle/>
          <a:p>
            <a:pPr indent="0" marL="0">
              <a:buNone/>
            </a:pPr>
            <a:r>
              <a:rPr lang="en-US" sz="1050" b="1" dirty="0">
                <a:solidFill>
                  <a:srgbClr val="35E7C3"/>
                </a:solidFill>
                <a:latin typeface="Arial" pitchFamily="34" charset="0"/>
                <a:ea typeface="Arial" pitchFamily="34" charset="-122"/>
                <a:cs typeface="Arial" pitchFamily="34" charset="-120"/>
              </a:rPr>
              <a:t>Elasticity ≈ 0.57.  </a:t>
            </a:r>
            <a:pPr indent="0" marL="0">
              <a:buNone/>
            </a:pPr>
            <a:r>
              <a:rPr lang="en-US" sz="1050" dirty="0">
                <a:solidFill>
                  <a:srgbClr val="9AA8C7"/>
                </a:solidFill>
                <a:latin typeface="Arial" pitchFamily="34" charset="0"/>
                <a:ea typeface="Arial" pitchFamily="34" charset="-122"/>
                <a:cs typeface="Arial" pitchFamily="34" charset="-120"/>
              </a:rPr>
              <a:t>From the OLS companion model: a 1% increase in funding is associated with about a 0.57% higher valuation. Below 1.0 means diminishing returns, confirming EDA hypothesis H3: capital scales valuation, but sub-linearly.</a:t>
            </a:r>
            <a:endParaRPr lang="en-US" sz="1050" dirty="0"/>
          </a:p>
        </p:txBody>
      </p:sp>
      <p:sp>
        <p:nvSpPr>
          <p:cNvPr id="17" name="Text 13"/>
          <p:cNvSpPr/>
          <p:nvPr/>
        </p:nvSpPr>
        <p:spPr>
          <a:xfrm>
            <a:off x="502920" y="6473952"/>
            <a:ext cx="8686800" cy="274320"/>
          </a:xfrm>
          <a:prstGeom prst="rect">
            <a:avLst/>
          </a:prstGeom>
          <a:noFill/>
          <a:ln/>
        </p:spPr>
        <p:txBody>
          <a:bodyPr wrap="square" lIns="0" tIns="0" rIns="0" bIns="0" rtlCol="0" anchor="ctr"/>
          <a:lstStyle/>
          <a:p>
            <a:pPr algn="l" indent="0" marL="0">
              <a:buNone/>
            </a:pPr>
            <a:r>
              <a:rPr lang="en-US" sz="900" b="1" dirty="0">
                <a:solidFill>
                  <a:srgbClr val="EAF2FF"/>
                </a:solidFill>
                <a:latin typeface="Arial" pitchFamily="34" charset="0"/>
                <a:ea typeface="Arial" pitchFamily="34" charset="-122"/>
                <a:cs typeface="Arial" pitchFamily="34" charset="-120"/>
              </a:rPr>
              <a:t>Team 17</a:t>
            </a:r>
            <a:pPr algn="l" indent="0" marL="0">
              <a:buNone/>
            </a:pPr>
            <a:r>
              <a:rPr lang="en-US" sz="900" dirty="0">
                <a:solidFill>
                  <a:srgbClr val="9AA8C7"/>
                </a:solidFill>
                <a:latin typeface="Arial" pitchFamily="34" charset="0"/>
                <a:ea typeface="Arial" pitchFamily="34" charset="-122"/>
                <a:cs typeface="Arial" pitchFamily="34" charset="-120"/>
              </a:rPr>
              <a:t>   |   Startup Growth &amp; Investment   |   Model Definition &amp; Initial Results</a:t>
            </a:r>
            <a:endParaRPr lang="en-US" sz="900" dirty="0"/>
          </a:p>
        </p:txBody>
      </p:sp>
      <p:sp>
        <p:nvSpPr>
          <p:cNvPr id="18" name="Text 14"/>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900" dirty="0">
                <a:solidFill>
                  <a:srgbClr val="9AA8C7"/>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020"/>
        </a:solidFill>
      </p:bgPr>
    </p:bg>
    <p:spTree>
      <p:nvGrpSpPr>
        <p:cNvPr id="1" name=""/>
        <p:cNvGrpSpPr/>
        <p:nvPr/>
      </p:nvGrpSpPr>
      <p:grpSpPr>
        <a:xfrm>
          <a:off x="0" y="0"/>
          <a:ext cx="0" cy="0"/>
          <a:chOff x="0" y="0"/>
          <a:chExt cx="0" cy="0"/>
        </a:xfrm>
      </p:grpSpPr>
      <p:sp>
        <p:nvSpPr>
          <p:cNvPr id="2" name="Shape 0"/>
          <p:cNvSpPr/>
          <p:nvPr/>
        </p:nvSpPr>
        <p:spPr>
          <a:xfrm>
            <a:off x="-2194560" y="4937760"/>
            <a:ext cx="5303520" cy="4023360"/>
          </a:xfrm>
          <a:prstGeom prst="ellipse">
            <a:avLst/>
          </a:prstGeom>
          <a:solidFill>
            <a:srgbClr val="35275D">
              <a:alpha val="64000"/>
            </a:srgbClr>
          </a:solidFill>
          <a:ln/>
        </p:spPr>
      </p:sp>
      <p:sp>
        <p:nvSpPr>
          <p:cNvPr id="3" name="Shape 1"/>
          <p:cNvSpPr/>
          <p:nvPr/>
        </p:nvSpPr>
        <p:spPr>
          <a:xfrm>
            <a:off x="10241280" y="-2011680"/>
            <a:ext cx="4754880" cy="4389120"/>
          </a:xfrm>
          <a:prstGeom prst="ellipse">
            <a:avLst/>
          </a:prstGeom>
          <a:solidFill>
            <a:srgbClr val="17473E">
              <a:alpha val="70000"/>
            </a:srgbClr>
          </a:solidFill>
          <a:ln/>
        </p:spPr>
      </p:sp>
      <p:sp>
        <p:nvSpPr>
          <p:cNvPr id="4" name="Shape 2"/>
          <p:cNvSpPr/>
          <p:nvPr/>
        </p:nvSpPr>
        <p:spPr>
          <a:xfrm>
            <a:off x="502920" y="384048"/>
            <a:ext cx="1435608" cy="310896"/>
          </a:xfrm>
          <a:prstGeom prst="roundRect">
            <a:avLst>
              <a:gd name="adj" fmla="val 50000"/>
            </a:avLst>
          </a:prstGeom>
          <a:solidFill>
            <a:srgbClr val="35E7C3"/>
          </a:solidFill>
          <a:ln/>
        </p:spPr>
      </p:sp>
      <p:sp>
        <p:nvSpPr>
          <p:cNvPr id="5" name="Text 3"/>
          <p:cNvSpPr/>
          <p:nvPr/>
        </p:nvSpPr>
        <p:spPr>
          <a:xfrm>
            <a:off x="502920" y="384048"/>
            <a:ext cx="1435608" cy="310896"/>
          </a:xfrm>
          <a:prstGeom prst="rect">
            <a:avLst/>
          </a:prstGeom>
          <a:noFill/>
          <a:ln/>
        </p:spPr>
        <p:txBody>
          <a:bodyPr wrap="none" lIns="0" tIns="0" rIns="0" bIns="0" rtlCol="0" anchor="ctr"/>
          <a:lstStyle/>
          <a:p>
            <a:pPr algn="ctr" indent="0" marL="0">
              <a:buNone/>
            </a:pPr>
            <a:r>
              <a:rPr lang="en-US" sz="1050" b="1" spc="100" kern="0" dirty="0">
                <a:solidFill>
                  <a:srgbClr val="0A1020"/>
                </a:solidFill>
                <a:latin typeface="Arial" pitchFamily="34" charset="0"/>
                <a:ea typeface="Arial" pitchFamily="34" charset="-122"/>
                <a:cs typeface="Arial" pitchFamily="34" charset="-120"/>
              </a:rPr>
              <a:t>ROBUSTNESS</a:t>
            </a:r>
            <a:endParaRPr lang="en-US" sz="1050" dirty="0"/>
          </a:p>
        </p:txBody>
      </p:sp>
      <p:sp>
        <p:nvSpPr>
          <p:cNvPr id="6" name="Text 4"/>
          <p:cNvSpPr/>
          <p:nvPr/>
        </p:nvSpPr>
        <p:spPr>
          <a:xfrm>
            <a:off x="502920" y="749808"/>
            <a:ext cx="11155680" cy="566928"/>
          </a:xfrm>
          <a:prstGeom prst="rect">
            <a:avLst/>
          </a:prstGeom>
          <a:noFill/>
          <a:ln/>
        </p:spPr>
        <p:txBody>
          <a:bodyPr wrap="square" lIns="0" tIns="0" rIns="0" bIns="0" rtlCol="0" anchor="ctr"/>
          <a:lstStyle/>
          <a:p>
            <a:pPr indent="0" marL="0">
              <a:buNone/>
            </a:pPr>
            <a:r>
              <a:rPr lang="en-US" sz="2700" b="1" dirty="0">
                <a:solidFill>
                  <a:srgbClr val="EAF2FF"/>
                </a:solidFill>
                <a:latin typeface="Arial" pitchFamily="34" charset="0"/>
                <a:ea typeface="Arial" pitchFamily="34" charset="-122"/>
                <a:cs typeface="Arial" pitchFamily="34" charset="-120"/>
              </a:rPr>
              <a:t>The result survives the 2021 regime and the mega-outliers</a:t>
            </a:r>
            <a:endParaRPr lang="en-US" sz="2700" dirty="0"/>
          </a:p>
        </p:txBody>
      </p:sp>
      <p:sp>
        <p:nvSpPr>
          <p:cNvPr id="7" name="Text 5"/>
          <p:cNvSpPr/>
          <p:nvPr/>
        </p:nvSpPr>
        <p:spPr>
          <a:xfrm>
            <a:off x="502920" y="1316736"/>
            <a:ext cx="11155680" cy="310896"/>
          </a:xfrm>
          <a:prstGeom prst="rect">
            <a:avLst/>
          </a:prstGeom>
          <a:noFill/>
          <a:ln/>
        </p:spPr>
        <p:txBody>
          <a:bodyPr wrap="square" lIns="0" tIns="0" rIns="0" bIns="0" rtlCol="0" anchor="ctr"/>
          <a:lstStyle/>
          <a:p>
            <a:pPr indent="0" marL="0">
              <a:buNone/>
            </a:pPr>
            <a:r>
              <a:rPr lang="en-US" sz="1250" i="1" dirty="0">
                <a:solidFill>
                  <a:srgbClr val="9AA8C7"/>
                </a:solidFill>
                <a:latin typeface="Arial" pitchFamily="34" charset="0"/>
                <a:ea typeface="Arial" pitchFamily="34" charset="-122"/>
                <a:cs typeface="Arial" pitchFamily="34" charset="-120"/>
              </a:rPr>
              <a:t>The two biggest threats flagged in EDA, the 2021 cohort and the long tail, barely move the champion's accuracy.</a:t>
            </a:r>
            <a:endParaRPr lang="en-US" sz="1250" dirty="0"/>
          </a:p>
        </p:txBody>
      </p:sp>
      <p:sp>
        <p:nvSpPr>
          <p:cNvPr id="8" name="Shape 6"/>
          <p:cNvSpPr/>
          <p:nvPr/>
        </p:nvSpPr>
        <p:spPr>
          <a:xfrm>
            <a:off x="502920" y="1828800"/>
            <a:ext cx="5943600" cy="4297680"/>
          </a:xfrm>
          <a:prstGeom prst="roundRect">
            <a:avLst>
              <a:gd name="adj" fmla="val 1915"/>
            </a:avLst>
          </a:prstGeom>
          <a:solidFill>
            <a:srgbClr val="111A2E"/>
          </a:solidFill>
          <a:ln w="12700">
            <a:solidFill>
              <a:srgbClr val="26395E"/>
            </a:solidFill>
            <a:prstDash val="solid"/>
          </a:ln>
        </p:spPr>
      </p:sp>
      <p:pic>
        <p:nvPicPr>
          <p:cNvPr id="9" name="Image 0" descr="/private/tmp/claude-501/-Users-kayvon-Capstone-Project-Cornell/1969d4a9-eb5b-4b12-94db-282109d9f508/scratchpad/chart_sensitivity.png">    </p:cNvPr>
          <p:cNvPicPr>
            <a:picLocks noChangeAspect="1"/>
          </p:cNvPicPr>
          <p:nvPr/>
        </p:nvPicPr>
        <p:blipFill>
          <a:blip r:embed="rId1"/>
          <a:stretch>
            <a:fillRect/>
          </a:stretch>
        </p:blipFill>
        <p:spPr>
          <a:xfrm>
            <a:off x="777240" y="2240280"/>
            <a:ext cx="5394960" cy="3172968"/>
          </a:xfrm>
          <a:prstGeom prst="rect">
            <a:avLst/>
          </a:prstGeom>
        </p:spPr>
      </p:pic>
      <p:sp>
        <p:nvSpPr>
          <p:cNvPr id="10" name="Text 7"/>
          <p:cNvSpPr/>
          <p:nvPr/>
        </p:nvSpPr>
        <p:spPr>
          <a:xfrm>
            <a:off x="685800" y="1883664"/>
            <a:ext cx="5577840" cy="237744"/>
          </a:xfrm>
          <a:prstGeom prst="rect">
            <a:avLst/>
          </a:prstGeom>
          <a:noFill/>
          <a:ln/>
        </p:spPr>
        <p:txBody>
          <a:bodyPr wrap="square" lIns="0" tIns="0" rIns="0" bIns="0" rtlCol="0" anchor="ctr"/>
          <a:lstStyle/>
          <a:p>
            <a:pPr algn="ctr" indent="0" marL="0">
              <a:buNone/>
            </a:pPr>
            <a:r>
              <a:rPr lang="en-US" sz="1100" b="1" dirty="0">
                <a:solidFill>
                  <a:srgbClr val="EAF2FF"/>
                </a:solidFill>
                <a:latin typeface="Arial" pitchFamily="34" charset="0"/>
                <a:ea typeface="Arial" pitchFamily="34" charset="-122"/>
                <a:cs typeface="Arial" pitchFamily="34" charset="-120"/>
              </a:rPr>
              <a:t>Sensitivity analysis, held-out test R²</a:t>
            </a:r>
            <a:endParaRPr lang="en-US" sz="1100" dirty="0"/>
          </a:p>
        </p:txBody>
      </p:sp>
      <p:sp>
        <p:nvSpPr>
          <p:cNvPr id="11" name="Text 8"/>
          <p:cNvSpPr/>
          <p:nvPr/>
        </p:nvSpPr>
        <p:spPr>
          <a:xfrm>
            <a:off x="777240" y="5532120"/>
            <a:ext cx="5394960" cy="457200"/>
          </a:xfrm>
          <a:prstGeom prst="rect">
            <a:avLst/>
          </a:prstGeom>
          <a:noFill/>
          <a:ln/>
        </p:spPr>
        <p:txBody>
          <a:bodyPr wrap="square" lIns="0" tIns="0" rIns="0" bIns="0" rtlCol="0" anchor="ctr"/>
          <a:lstStyle/>
          <a:p>
            <a:pPr algn="ctr" indent="0" marL="0">
              <a:buNone/>
            </a:pPr>
            <a:r>
              <a:rPr lang="en-US" sz="1000" i="1" dirty="0">
                <a:solidFill>
                  <a:srgbClr val="9AA8C7"/>
                </a:solidFill>
                <a:latin typeface="Arial" pitchFamily="34" charset="0"/>
                <a:ea typeface="Arial" pitchFamily="34" charset="-122"/>
                <a:cs typeface="Arial" pitchFamily="34" charset="-120"/>
              </a:rPr>
              <a:t>Retraining without the 520-company 2021 cohort, or with winsorized valuations, changes test R² by less than 0.01.</a:t>
            </a:r>
            <a:endParaRPr lang="en-US" sz="1000" dirty="0"/>
          </a:p>
        </p:txBody>
      </p:sp>
      <p:sp>
        <p:nvSpPr>
          <p:cNvPr id="12" name="Shape 9"/>
          <p:cNvSpPr/>
          <p:nvPr/>
        </p:nvSpPr>
        <p:spPr>
          <a:xfrm>
            <a:off x="6675120" y="1828800"/>
            <a:ext cx="5010912" cy="2286000"/>
          </a:xfrm>
          <a:prstGeom prst="roundRect">
            <a:avLst>
              <a:gd name="adj" fmla="val 3600"/>
            </a:avLst>
          </a:prstGeom>
          <a:solidFill>
            <a:srgbClr val="111A2E"/>
          </a:solidFill>
          <a:ln w="12700">
            <a:solidFill>
              <a:srgbClr val="26395E"/>
            </a:solidFill>
            <a:prstDash val="solid"/>
          </a:ln>
        </p:spPr>
      </p:sp>
      <p:sp>
        <p:nvSpPr>
          <p:cNvPr id="13" name="Text 10"/>
          <p:cNvSpPr/>
          <p:nvPr/>
        </p:nvSpPr>
        <p:spPr>
          <a:xfrm>
            <a:off x="6922008" y="1984248"/>
            <a:ext cx="4480560" cy="274320"/>
          </a:xfrm>
          <a:prstGeom prst="rect">
            <a:avLst/>
          </a:prstGeom>
          <a:noFill/>
          <a:ln/>
        </p:spPr>
        <p:txBody>
          <a:bodyPr wrap="square" lIns="0" tIns="0" rIns="0" bIns="0" rtlCol="0" anchor="ctr"/>
          <a:lstStyle/>
          <a:p>
            <a:pPr indent="0" marL="0">
              <a:buNone/>
            </a:pPr>
            <a:r>
              <a:rPr lang="en-US" sz="1300" b="1" dirty="0">
                <a:solidFill>
                  <a:srgbClr val="FFBE55"/>
                </a:solidFill>
                <a:latin typeface="Arial" pitchFamily="34" charset="0"/>
                <a:ea typeface="Arial" pitchFamily="34" charset="-122"/>
                <a:cs typeface="Arial" pitchFamily="34" charset="-120"/>
              </a:rPr>
              <a:t>Bootstrap simulation of accuracy</a:t>
            </a:r>
            <a:endParaRPr lang="en-US" sz="1300" dirty="0"/>
          </a:p>
        </p:txBody>
      </p:sp>
      <p:sp>
        <p:nvSpPr>
          <p:cNvPr id="14" name="Text 11"/>
          <p:cNvSpPr/>
          <p:nvPr/>
        </p:nvSpPr>
        <p:spPr>
          <a:xfrm>
            <a:off x="6922008" y="2331720"/>
            <a:ext cx="4526280" cy="1691640"/>
          </a:xfrm>
          <a:prstGeom prst="rect">
            <a:avLst/>
          </a:prstGeom>
          <a:noFill/>
          <a:ln/>
        </p:spPr>
        <p:txBody>
          <a:bodyPr wrap="square" lIns="0" tIns="0" rIns="0" bIns="0" rtlCol="0" anchor="t"/>
          <a:lstStyle/>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2,000 bootstrap resamples of the 212 test companies simulate how accuracy varies across samples.</a:t>
            </a:r>
            <a:endParaRPr lang="en-US" sz="1050" dirty="0"/>
          </a:p>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95% confidence interval for test R²: 0.39 to 0.61.</a:t>
            </a:r>
            <a:endParaRPr lang="en-US" sz="1050" dirty="0"/>
          </a:p>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Even the pessimistic bound beats every linear model's cross-validated R², so the champion choice is not a lucky split.</a:t>
            </a:r>
            <a:endParaRPr lang="en-US" sz="1050" dirty="0"/>
          </a:p>
        </p:txBody>
      </p:sp>
      <p:sp>
        <p:nvSpPr>
          <p:cNvPr id="15" name="Shape 12"/>
          <p:cNvSpPr/>
          <p:nvPr/>
        </p:nvSpPr>
        <p:spPr>
          <a:xfrm>
            <a:off x="6675120" y="4297680"/>
            <a:ext cx="5010912" cy="1828800"/>
          </a:xfrm>
          <a:prstGeom prst="roundRect">
            <a:avLst>
              <a:gd name="adj" fmla="val 4500"/>
            </a:avLst>
          </a:prstGeom>
          <a:solidFill>
            <a:srgbClr val="111A2E"/>
          </a:solidFill>
          <a:ln w="12700">
            <a:solidFill>
              <a:srgbClr val="26395E"/>
            </a:solidFill>
            <a:prstDash val="solid"/>
          </a:ln>
        </p:spPr>
      </p:sp>
      <p:sp>
        <p:nvSpPr>
          <p:cNvPr id="16" name="Text 13"/>
          <p:cNvSpPr/>
          <p:nvPr/>
        </p:nvSpPr>
        <p:spPr>
          <a:xfrm>
            <a:off x="6922008" y="4453128"/>
            <a:ext cx="4480560" cy="274320"/>
          </a:xfrm>
          <a:prstGeom prst="rect">
            <a:avLst/>
          </a:prstGeom>
          <a:noFill/>
          <a:ln/>
        </p:spPr>
        <p:txBody>
          <a:bodyPr wrap="square" lIns="0" tIns="0" rIns="0" bIns="0" rtlCol="0" anchor="ctr"/>
          <a:lstStyle/>
          <a:p>
            <a:pPr indent="0" marL="0">
              <a:buNone/>
            </a:pPr>
            <a:r>
              <a:rPr lang="en-US" sz="1300" b="1" dirty="0">
                <a:solidFill>
                  <a:srgbClr val="5EA1FF"/>
                </a:solidFill>
                <a:latin typeface="Arial" pitchFamily="34" charset="0"/>
                <a:ea typeface="Arial" pitchFamily="34" charset="-122"/>
                <a:cs typeface="Arial" pitchFamily="34" charset="-120"/>
              </a:rPr>
              <a:t>What this settles from the EDA plan</a:t>
            </a:r>
            <a:endParaRPr lang="en-US" sz="1300" dirty="0"/>
          </a:p>
        </p:txBody>
      </p:sp>
      <p:sp>
        <p:nvSpPr>
          <p:cNvPr id="17" name="Text 14"/>
          <p:cNvSpPr/>
          <p:nvPr/>
        </p:nvSpPr>
        <p:spPr>
          <a:xfrm>
            <a:off x="6922008" y="4800600"/>
            <a:ext cx="4526280" cy="1280160"/>
          </a:xfrm>
          <a:prstGeom prst="rect">
            <a:avLst/>
          </a:prstGeom>
          <a:noFill/>
          <a:ln/>
        </p:spPr>
        <p:txBody>
          <a:bodyPr wrap="square" lIns="0" tIns="0" rIns="0" bIns="0" rtlCol="0" anchor="t"/>
          <a:lstStyle/>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H1 (2021 is a distinct regime): true for volume, but it does not distort the valuation model.</a:t>
            </a:r>
            <a:endParaRPr lang="en-US" sz="1050" dirty="0"/>
          </a:p>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H3 (log-scale funding effect with diminishing returns): confirmed, elasticity about 0.57.</a:t>
            </a:r>
            <a:endParaRPr lang="en-US" sz="1050" dirty="0"/>
          </a:p>
          <a:p>
            <a:pPr algn="l" marL="127000" indent="-127000">
              <a:spcAft>
                <a:spcPts val="500"/>
              </a:spcAft>
              <a:buSzPct val="100000"/>
              <a:buChar char="•"/>
            </a:pPr>
            <a:r>
              <a:rPr lang="en-US" sz="1050" dirty="0">
                <a:solidFill>
                  <a:srgbClr val="9AA8C7"/>
                </a:solidFill>
                <a:latin typeface="Arial" pitchFamily="34" charset="0"/>
                <a:ea typeface="Arial" pitchFamily="34" charset="-122"/>
                <a:cs typeface="Arial" pitchFamily="34" charset="-120"/>
              </a:rPr>
              <a:t>Robustness checks promised in the EDA deck are now implemented, not just planned.</a:t>
            </a:r>
            <a:endParaRPr lang="en-US" sz="1050" dirty="0"/>
          </a:p>
        </p:txBody>
      </p:sp>
      <p:sp>
        <p:nvSpPr>
          <p:cNvPr id="18" name="Text 15"/>
          <p:cNvSpPr/>
          <p:nvPr/>
        </p:nvSpPr>
        <p:spPr>
          <a:xfrm>
            <a:off x="502920" y="6473952"/>
            <a:ext cx="8686800" cy="274320"/>
          </a:xfrm>
          <a:prstGeom prst="rect">
            <a:avLst/>
          </a:prstGeom>
          <a:noFill/>
          <a:ln/>
        </p:spPr>
        <p:txBody>
          <a:bodyPr wrap="square" lIns="0" tIns="0" rIns="0" bIns="0" rtlCol="0" anchor="ctr"/>
          <a:lstStyle/>
          <a:p>
            <a:pPr algn="l" indent="0" marL="0">
              <a:buNone/>
            </a:pPr>
            <a:r>
              <a:rPr lang="en-US" sz="900" b="1" dirty="0">
                <a:solidFill>
                  <a:srgbClr val="EAF2FF"/>
                </a:solidFill>
                <a:latin typeface="Arial" pitchFamily="34" charset="0"/>
                <a:ea typeface="Arial" pitchFamily="34" charset="-122"/>
                <a:cs typeface="Arial" pitchFamily="34" charset="-120"/>
              </a:rPr>
              <a:t>Team 17</a:t>
            </a:r>
            <a:pPr algn="l" indent="0" marL="0">
              <a:buNone/>
            </a:pPr>
            <a:r>
              <a:rPr lang="en-US" sz="900" dirty="0">
                <a:solidFill>
                  <a:srgbClr val="9AA8C7"/>
                </a:solidFill>
                <a:latin typeface="Arial" pitchFamily="34" charset="0"/>
                <a:ea typeface="Arial" pitchFamily="34" charset="-122"/>
                <a:cs typeface="Arial" pitchFamily="34" charset="-120"/>
              </a:rPr>
              <a:t>   |   Startup Growth &amp; Investment   |   Model Definition &amp; Initial Results</a:t>
            </a:r>
            <a:endParaRPr lang="en-US" sz="900" dirty="0"/>
          </a:p>
        </p:txBody>
      </p:sp>
      <p:sp>
        <p:nvSpPr>
          <p:cNvPr id="19" name="Text 16"/>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900" dirty="0">
                <a:solidFill>
                  <a:srgbClr val="9AA8C7"/>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020"/>
        </a:solidFill>
      </p:bgPr>
    </p:bg>
    <p:spTree>
      <p:nvGrpSpPr>
        <p:cNvPr id="1" name=""/>
        <p:cNvGrpSpPr/>
        <p:nvPr/>
      </p:nvGrpSpPr>
      <p:grpSpPr>
        <a:xfrm>
          <a:off x="0" y="0"/>
          <a:ext cx="0" cy="0"/>
          <a:chOff x="0" y="0"/>
          <a:chExt cx="0" cy="0"/>
        </a:xfrm>
      </p:grpSpPr>
      <p:sp>
        <p:nvSpPr>
          <p:cNvPr id="2" name="Shape 0"/>
          <p:cNvSpPr/>
          <p:nvPr/>
        </p:nvSpPr>
        <p:spPr>
          <a:xfrm>
            <a:off x="-2011680" y="4480560"/>
            <a:ext cx="5943600" cy="4754880"/>
          </a:xfrm>
          <a:prstGeom prst="ellipse">
            <a:avLst/>
          </a:prstGeom>
          <a:solidFill>
            <a:srgbClr val="17473E">
              <a:alpha val="65000"/>
            </a:srgbClr>
          </a:solidFill>
          <a:ln/>
        </p:spPr>
      </p:sp>
      <p:sp>
        <p:nvSpPr>
          <p:cNvPr id="3" name="Shape 1"/>
          <p:cNvSpPr/>
          <p:nvPr/>
        </p:nvSpPr>
        <p:spPr>
          <a:xfrm>
            <a:off x="9509760" y="-2377440"/>
            <a:ext cx="5303520" cy="4937760"/>
          </a:xfrm>
          <a:prstGeom prst="ellipse">
            <a:avLst/>
          </a:prstGeom>
          <a:solidFill>
            <a:srgbClr val="35275D">
              <a:alpha val="70000"/>
            </a:srgbClr>
          </a:solidFill>
          <a:ln/>
        </p:spPr>
      </p:sp>
      <p:sp>
        <p:nvSpPr>
          <p:cNvPr id="4" name="Shape 2"/>
          <p:cNvSpPr/>
          <p:nvPr/>
        </p:nvSpPr>
        <p:spPr>
          <a:xfrm>
            <a:off x="502920" y="384048"/>
            <a:ext cx="1435608" cy="310896"/>
          </a:xfrm>
          <a:prstGeom prst="roundRect">
            <a:avLst>
              <a:gd name="adj" fmla="val 50000"/>
            </a:avLst>
          </a:prstGeom>
          <a:solidFill>
            <a:srgbClr val="FFBE55"/>
          </a:solidFill>
          <a:ln/>
        </p:spPr>
      </p:sp>
      <p:sp>
        <p:nvSpPr>
          <p:cNvPr id="5" name="Text 3"/>
          <p:cNvSpPr/>
          <p:nvPr/>
        </p:nvSpPr>
        <p:spPr>
          <a:xfrm>
            <a:off x="502920" y="384048"/>
            <a:ext cx="1435608" cy="310896"/>
          </a:xfrm>
          <a:prstGeom prst="rect">
            <a:avLst/>
          </a:prstGeom>
          <a:noFill/>
          <a:ln/>
        </p:spPr>
        <p:txBody>
          <a:bodyPr wrap="none" lIns="0" tIns="0" rIns="0" bIns="0" rtlCol="0" anchor="ctr"/>
          <a:lstStyle/>
          <a:p>
            <a:pPr algn="ctr" indent="0" marL="0">
              <a:buNone/>
            </a:pPr>
            <a:r>
              <a:rPr lang="en-US" sz="1050" b="1" spc="100" kern="0" dirty="0">
                <a:solidFill>
                  <a:srgbClr val="0A1020"/>
                </a:solidFill>
                <a:latin typeface="Arial" pitchFamily="34" charset="0"/>
                <a:ea typeface="Arial" pitchFamily="34" charset="-122"/>
                <a:cs typeface="Arial" pitchFamily="34" charset="-120"/>
              </a:rPr>
              <a:t>NEXT STEPS</a:t>
            </a:r>
            <a:endParaRPr lang="en-US" sz="1050" dirty="0"/>
          </a:p>
        </p:txBody>
      </p:sp>
      <p:sp>
        <p:nvSpPr>
          <p:cNvPr id="6" name="Text 4"/>
          <p:cNvSpPr/>
          <p:nvPr/>
        </p:nvSpPr>
        <p:spPr>
          <a:xfrm>
            <a:off x="502920" y="749808"/>
            <a:ext cx="11155680" cy="566928"/>
          </a:xfrm>
          <a:prstGeom prst="rect">
            <a:avLst/>
          </a:prstGeom>
          <a:noFill/>
          <a:ln/>
        </p:spPr>
        <p:txBody>
          <a:bodyPr wrap="square" lIns="0" tIns="0" rIns="0" bIns="0" rtlCol="0" anchor="ctr"/>
          <a:lstStyle/>
          <a:p>
            <a:pPr indent="0" marL="0">
              <a:buNone/>
            </a:pPr>
            <a:r>
              <a:rPr lang="en-US" sz="2700" b="1" dirty="0">
                <a:solidFill>
                  <a:srgbClr val="EAF2FF"/>
                </a:solidFill>
                <a:latin typeface="Arial" pitchFamily="34" charset="0"/>
                <a:ea typeface="Arial" pitchFamily="34" charset="-122"/>
                <a:cs typeface="Arial" pitchFamily="34" charset="-120"/>
              </a:rPr>
              <a:t>From a tuned model to the VC Scout framework</a:t>
            </a:r>
            <a:endParaRPr lang="en-US" sz="2700" dirty="0"/>
          </a:p>
        </p:txBody>
      </p:sp>
      <p:sp>
        <p:nvSpPr>
          <p:cNvPr id="7" name="Text 5"/>
          <p:cNvSpPr/>
          <p:nvPr/>
        </p:nvSpPr>
        <p:spPr>
          <a:xfrm>
            <a:off x="502920" y="1316736"/>
            <a:ext cx="11155680" cy="310896"/>
          </a:xfrm>
          <a:prstGeom prst="rect">
            <a:avLst/>
          </a:prstGeom>
          <a:noFill/>
          <a:ln/>
        </p:spPr>
        <p:txBody>
          <a:bodyPr wrap="square" lIns="0" tIns="0" rIns="0" bIns="0" rtlCol="0" anchor="ctr"/>
          <a:lstStyle/>
          <a:p>
            <a:pPr indent="0" marL="0">
              <a:buNone/>
            </a:pPr>
            <a:r>
              <a:rPr lang="en-US" sz="1250" i="1" dirty="0">
                <a:solidFill>
                  <a:srgbClr val="9AA8C7"/>
                </a:solidFill>
                <a:latin typeface="Arial" pitchFamily="34" charset="0"/>
                <a:ea typeface="Arial" pitchFamily="34" charset="-122"/>
                <a:cs typeface="Arial" pitchFamily="34" charset="-120"/>
              </a:rPr>
              <a:t>The champion model becomes the engine that scores sectors and regions; the limitations stay on the label.</a:t>
            </a:r>
            <a:endParaRPr lang="en-US" sz="1250" dirty="0"/>
          </a:p>
        </p:txBody>
      </p:sp>
      <p:sp>
        <p:nvSpPr>
          <p:cNvPr id="8" name="Shape 6"/>
          <p:cNvSpPr/>
          <p:nvPr/>
        </p:nvSpPr>
        <p:spPr>
          <a:xfrm>
            <a:off x="502920" y="1828800"/>
            <a:ext cx="3675888" cy="2743200"/>
          </a:xfrm>
          <a:prstGeom prst="roundRect">
            <a:avLst>
              <a:gd name="adj" fmla="val 3000"/>
            </a:avLst>
          </a:prstGeom>
          <a:solidFill>
            <a:srgbClr val="111A2E"/>
          </a:solidFill>
          <a:ln w="12700">
            <a:solidFill>
              <a:srgbClr val="26395E"/>
            </a:solidFill>
            <a:prstDash val="solid"/>
          </a:ln>
        </p:spPr>
      </p:sp>
      <p:sp>
        <p:nvSpPr>
          <p:cNvPr id="9" name="Shape 7"/>
          <p:cNvSpPr/>
          <p:nvPr/>
        </p:nvSpPr>
        <p:spPr>
          <a:xfrm>
            <a:off x="740664" y="2048256"/>
            <a:ext cx="310896" cy="310896"/>
          </a:xfrm>
          <a:prstGeom prst="ellipse">
            <a:avLst/>
          </a:prstGeom>
          <a:solidFill>
            <a:srgbClr val="35E7C3"/>
          </a:solidFill>
          <a:ln/>
        </p:spPr>
      </p:sp>
      <p:sp>
        <p:nvSpPr>
          <p:cNvPr id="10" name="Text 8"/>
          <p:cNvSpPr/>
          <p:nvPr/>
        </p:nvSpPr>
        <p:spPr>
          <a:xfrm>
            <a:off x="740664" y="2048256"/>
            <a:ext cx="310896" cy="310896"/>
          </a:xfrm>
          <a:prstGeom prst="rect">
            <a:avLst/>
          </a:prstGeom>
          <a:noFill/>
          <a:ln/>
        </p:spPr>
        <p:txBody>
          <a:bodyPr wrap="square" lIns="0" tIns="0" rIns="0" bIns="0" rtlCol="0" anchor="ctr"/>
          <a:lstStyle/>
          <a:p>
            <a:pPr algn="ctr" indent="0" marL="0">
              <a:buNone/>
            </a:pPr>
            <a:r>
              <a:rPr lang="en-US" sz="1300" b="1" dirty="0">
                <a:solidFill>
                  <a:srgbClr val="0A1020"/>
                </a:solidFill>
                <a:latin typeface="Arial" pitchFamily="34" charset="0"/>
                <a:ea typeface="Arial" pitchFamily="34" charset="-122"/>
                <a:cs typeface="Arial" pitchFamily="34" charset="-120"/>
              </a:rPr>
              <a:t>1</a:t>
            </a:r>
            <a:endParaRPr lang="en-US" sz="1300" dirty="0"/>
          </a:p>
        </p:txBody>
      </p:sp>
      <p:sp>
        <p:nvSpPr>
          <p:cNvPr id="11" name="Text 9"/>
          <p:cNvSpPr/>
          <p:nvPr/>
        </p:nvSpPr>
        <p:spPr>
          <a:xfrm>
            <a:off x="1161288" y="2048256"/>
            <a:ext cx="2834640" cy="310896"/>
          </a:xfrm>
          <a:prstGeom prst="rect">
            <a:avLst/>
          </a:prstGeom>
          <a:noFill/>
          <a:ln/>
        </p:spPr>
        <p:txBody>
          <a:bodyPr wrap="square" lIns="0" tIns="0" rIns="0" bIns="0" rtlCol="0" anchor="ctr"/>
          <a:lstStyle/>
          <a:p>
            <a:pPr indent="0" marL="0">
              <a:buNone/>
            </a:pPr>
            <a:r>
              <a:rPr lang="en-US" sz="1350" b="1" dirty="0">
                <a:solidFill>
                  <a:srgbClr val="EAF2FF"/>
                </a:solidFill>
                <a:latin typeface="Arial" pitchFamily="34" charset="0"/>
                <a:ea typeface="Arial" pitchFamily="34" charset="-122"/>
                <a:cs typeface="Arial" pitchFamily="34" charset="-120"/>
              </a:rPr>
              <a:t>Benchmark engine</a:t>
            </a:r>
            <a:endParaRPr lang="en-US" sz="1350" dirty="0"/>
          </a:p>
        </p:txBody>
      </p:sp>
      <p:sp>
        <p:nvSpPr>
          <p:cNvPr id="12" name="Text 10"/>
          <p:cNvSpPr/>
          <p:nvPr/>
        </p:nvSpPr>
        <p:spPr>
          <a:xfrm>
            <a:off x="758952" y="2505456"/>
            <a:ext cx="3200400" cy="1920240"/>
          </a:xfrm>
          <a:prstGeom prst="rect">
            <a:avLst/>
          </a:prstGeom>
          <a:noFill/>
          <a:ln/>
        </p:spPr>
        <p:txBody>
          <a:bodyPr wrap="square" lIns="0" tIns="0" rIns="0" bIns="0" rtlCol="0" anchor="t"/>
          <a:lstStyle/>
          <a:p>
            <a:pPr algn="l" marL="127000" indent="-127000">
              <a:spcAft>
                <a:spcPts val="600"/>
              </a:spcAft>
              <a:buSzPct val="100000"/>
              <a:buChar char="•"/>
            </a:pPr>
            <a:r>
              <a:rPr lang="en-US" sz="1050" dirty="0">
                <a:solidFill>
                  <a:srgbClr val="9AA8C7"/>
                </a:solidFill>
                <a:latin typeface="Arial" pitchFamily="34" charset="0"/>
                <a:ea typeface="Arial" pitchFamily="34" charset="-122"/>
                <a:cs typeface="Arial" pitchFamily="34" charset="-120"/>
              </a:rPr>
              <a:t>Champion predictions define the expected valuation for any funding-sector-geography profile.</a:t>
            </a:r>
            <a:endParaRPr lang="en-US" sz="1050" dirty="0"/>
          </a:p>
          <a:p>
            <a:pPr algn="l" marL="127000" indent="-127000">
              <a:spcAft>
                <a:spcPts val="600"/>
              </a:spcAft>
              <a:buSzPct val="100000"/>
              <a:buChar char="•"/>
            </a:pPr>
            <a:r>
              <a:rPr lang="en-US" sz="1050" dirty="0">
                <a:solidFill>
                  <a:srgbClr val="9AA8C7"/>
                </a:solidFill>
                <a:latin typeface="Arial" pitchFamily="34" charset="0"/>
                <a:ea typeface="Arial" pitchFamily="34" charset="-122"/>
                <a:cs typeface="Arial" pitchFamily="34" charset="-120"/>
              </a:rPr>
              <a:t>Segments that consistently beat their benchmark (positive residuals) become high-signal VC Scout categories.</a:t>
            </a:r>
            <a:endParaRPr lang="en-US" sz="1050" dirty="0"/>
          </a:p>
        </p:txBody>
      </p:sp>
      <p:sp>
        <p:nvSpPr>
          <p:cNvPr id="13" name="Shape 11"/>
          <p:cNvSpPr/>
          <p:nvPr/>
        </p:nvSpPr>
        <p:spPr>
          <a:xfrm>
            <a:off x="4334256" y="1828800"/>
            <a:ext cx="3675888" cy="2743200"/>
          </a:xfrm>
          <a:prstGeom prst="roundRect">
            <a:avLst>
              <a:gd name="adj" fmla="val 3000"/>
            </a:avLst>
          </a:prstGeom>
          <a:solidFill>
            <a:srgbClr val="111A2E"/>
          </a:solidFill>
          <a:ln w="12700">
            <a:solidFill>
              <a:srgbClr val="26395E"/>
            </a:solidFill>
            <a:prstDash val="solid"/>
          </a:ln>
        </p:spPr>
      </p:sp>
      <p:sp>
        <p:nvSpPr>
          <p:cNvPr id="14" name="Shape 12"/>
          <p:cNvSpPr/>
          <p:nvPr/>
        </p:nvSpPr>
        <p:spPr>
          <a:xfrm>
            <a:off x="4572000" y="2048256"/>
            <a:ext cx="310896" cy="310896"/>
          </a:xfrm>
          <a:prstGeom prst="ellipse">
            <a:avLst/>
          </a:prstGeom>
          <a:solidFill>
            <a:srgbClr val="5EA1FF"/>
          </a:solidFill>
          <a:ln/>
        </p:spPr>
      </p:sp>
      <p:sp>
        <p:nvSpPr>
          <p:cNvPr id="15" name="Text 13"/>
          <p:cNvSpPr/>
          <p:nvPr/>
        </p:nvSpPr>
        <p:spPr>
          <a:xfrm>
            <a:off x="4572000" y="2048256"/>
            <a:ext cx="310896" cy="310896"/>
          </a:xfrm>
          <a:prstGeom prst="rect">
            <a:avLst/>
          </a:prstGeom>
          <a:noFill/>
          <a:ln/>
        </p:spPr>
        <p:txBody>
          <a:bodyPr wrap="square" lIns="0" tIns="0" rIns="0" bIns="0" rtlCol="0" anchor="ctr"/>
          <a:lstStyle/>
          <a:p>
            <a:pPr algn="ctr" indent="0" marL="0">
              <a:buNone/>
            </a:pPr>
            <a:r>
              <a:rPr lang="en-US" sz="1300" b="1" dirty="0">
                <a:solidFill>
                  <a:srgbClr val="0A1020"/>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4992624" y="2048256"/>
            <a:ext cx="2834640" cy="310896"/>
          </a:xfrm>
          <a:prstGeom prst="rect">
            <a:avLst/>
          </a:prstGeom>
          <a:noFill/>
          <a:ln/>
        </p:spPr>
        <p:txBody>
          <a:bodyPr wrap="square" lIns="0" tIns="0" rIns="0" bIns="0" rtlCol="0" anchor="ctr"/>
          <a:lstStyle/>
          <a:p>
            <a:pPr indent="0" marL="0">
              <a:buNone/>
            </a:pPr>
            <a:r>
              <a:rPr lang="en-US" sz="1350" b="1" dirty="0">
                <a:solidFill>
                  <a:srgbClr val="EAF2FF"/>
                </a:solidFill>
                <a:latin typeface="Arial" pitchFamily="34" charset="0"/>
                <a:ea typeface="Arial" pitchFamily="34" charset="-122"/>
                <a:cs typeface="Arial" pitchFamily="34" charset="-120"/>
              </a:rPr>
              <a:t>Scoring layer</a:t>
            </a:r>
            <a:endParaRPr lang="en-US" sz="1350" dirty="0"/>
          </a:p>
        </p:txBody>
      </p:sp>
      <p:sp>
        <p:nvSpPr>
          <p:cNvPr id="17" name="Text 15"/>
          <p:cNvSpPr/>
          <p:nvPr/>
        </p:nvSpPr>
        <p:spPr>
          <a:xfrm>
            <a:off x="4590288" y="2505456"/>
            <a:ext cx="3200400" cy="1920240"/>
          </a:xfrm>
          <a:prstGeom prst="rect">
            <a:avLst/>
          </a:prstGeom>
          <a:noFill/>
          <a:ln/>
        </p:spPr>
        <p:txBody>
          <a:bodyPr wrap="square" lIns="0" tIns="0" rIns="0" bIns="0" rtlCol="0" anchor="t"/>
          <a:lstStyle/>
          <a:p>
            <a:pPr algn="l" marL="127000" indent="-127000">
              <a:spcAft>
                <a:spcPts val="600"/>
              </a:spcAft>
              <a:buSzPct val="100000"/>
              <a:buChar char="•"/>
            </a:pPr>
            <a:r>
              <a:rPr lang="en-US" sz="1050" dirty="0">
                <a:solidFill>
                  <a:srgbClr val="9AA8C7"/>
                </a:solidFill>
                <a:latin typeface="Arial" pitchFamily="34" charset="0"/>
                <a:ea typeface="Arial" pitchFamily="34" charset="-122"/>
                <a:cs typeface="Arial" pitchFamily="34" charset="-120"/>
              </a:rPr>
              <a:t>Blend model-based signals with EDA descriptives: counts, median efficiency, and time-to-unicorn.</a:t>
            </a:r>
            <a:endParaRPr lang="en-US" sz="1050" dirty="0"/>
          </a:p>
          <a:p>
            <a:pPr algn="l" marL="127000" indent="-127000">
              <a:spcAft>
                <a:spcPts val="600"/>
              </a:spcAft>
              <a:buSzPct val="100000"/>
              <a:buChar char="•"/>
            </a:pPr>
            <a:r>
              <a:rPr lang="en-US" sz="1050" dirty="0">
                <a:solidFill>
                  <a:srgbClr val="9AA8C7"/>
                </a:solidFill>
                <a:latin typeface="Arial" pitchFamily="34" charset="0"/>
                <a:ea typeface="Arial" pitchFamily="34" charset="-122"/>
                <a:cs typeface="Arial" pitchFamily="34" charset="-120"/>
              </a:rPr>
              <a:t>Weights stay transparent and user-adjustable, per the charter's explainability requirement.</a:t>
            </a:r>
            <a:endParaRPr lang="en-US" sz="1050" dirty="0"/>
          </a:p>
        </p:txBody>
      </p:sp>
      <p:sp>
        <p:nvSpPr>
          <p:cNvPr id="18" name="Shape 16"/>
          <p:cNvSpPr/>
          <p:nvPr/>
        </p:nvSpPr>
        <p:spPr>
          <a:xfrm>
            <a:off x="8165592" y="1828800"/>
            <a:ext cx="3675888" cy="2743200"/>
          </a:xfrm>
          <a:prstGeom prst="roundRect">
            <a:avLst>
              <a:gd name="adj" fmla="val 3000"/>
            </a:avLst>
          </a:prstGeom>
          <a:solidFill>
            <a:srgbClr val="111A2E"/>
          </a:solidFill>
          <a:ln w="12700">
            <a:solidFill>
              <a:srgbClr val="26395E"/>
            </a:solidFill>
            <a:prstDash val="solid"/>
          </a:ln>
        </p:spPr>
      </p:sp>
      <p:sp>
        <p:nvSpPr>
          <p:cNvPr id="19" name="Shape 17"/>
          <p:cNvSpPr/>
          <p:nvPr/>
        </p:nvSpPr>
        <p:spPr>
          <a:xfrm>
            <a:off x="8403336" y="2048256"/>
            <a:ext cx="310896" cy="310896"/>
          </a:xfrm>
          <a:prstGeom prst="ellipse">
            <a:avLst/>
          </a:prstGeom>
          <a:solidFill>
            <a:srgbClr val="9C7BFF"/>
          </a:solidFill>
          <a:ln/>
        </p:spPr>
      </p:sp>
      <p:sp>
        <p:nvSpPr>
          <p:cNvPr id="20" name="Text 18"/>
          <p:cNvSpPr/>
          <p:nvPr/>
        </p:nvSpPr>
        <p:spPr>
          <a:xfrm>
            <a:off x="8403336" y="2048256"/>
            <a:ext cx="310896" cy="310896"/>
          </a:xfrm>
          <a:prstGeom prst="rect">
            <a:avLst/>
          </a:prstGeom>
          <a:noFill/>
          <a:ln/>
        </p:spPr>
        <p:txBody>
          <a:bodyPr wrap="square" lIns="0" tIns="0" rIns="0" bIns="0" rtlCol="0" anchor="ctr"/>
          <a:lstStyle/>
          <a:p>
            <a:pPr algn="ctr" indent="0" marL="0">
              <a:buNone/>
            </a:pPr>
            <a:r>
              <a:rPr lang="en-US" sz="1300" b="1" dirty="0">
                <a:solidFill>
                  <a:srgbClr val="0A1020"/>
                </a:solidFill>
                <a:latin typeface="Arial" pitchFamily="34" charset="0"/>
                <a:ea typeface="Arial" pitchFamily="34" charset="-122"/>
                <a:cs typeface="Arial" pitchFamily="34" charset="-120"/>
              </a:rPr>
              <a:t>3</a:t>
            </a:r>
            <a:endParaRPr lang="en-US" sz="1300" dirty="0"/>
          </a:p>
        </p:txBody>
      </p:sp>
      <p:sp>
        <p:nvSpPr>
          <p:cNvPr id="21" name="Text 19"/>
          <p:cNvSpPr/>
          <p:nvPr/>
        </p:nvSpPr>
        <p:spPr>
          <a:xfrm>
            <a:off x="8823960" y="2048256"/>
            <a:ext cx="2834640" cy="310896"/>
          </a:xfrm>
          <a:prstGeom prst="rect">
            <a:avLst/>
          </a:prstGeom>
          <a:noFill/>
          <a:ln/>
        </p:spPr>
        <p:txBody>
          <a:bodyPr wrap="square" lIns="0" tIns="0" rIns="0" bIns="0" rtlCol="0" anchor="ctr"/>
          <a:lstStyle/>
          <a:p>
            <a:pPr indent="0" marL="0">
              <a:buNone/>
            </a:pPr>
            <a:r>
              <a:rPr lang="en-US" sz="1350" b="1" dirty="0">
                <a:solidFill>
                  <a:srgbClr val="EAF2FF"/>
                </a:solidFill>
                <a:latin typeface="Arial" pitchFamily="34" charset="0"/>
                <a:ea typeface="Arial" pitchFamily="34" charset="-122"/>
                <a:cs typeface="Arial" pitchFamily="34" charset="-120"/>
              </a:rPr>
              <a:t>Hardening</a:t>
            </a:r>
            <a:endParaRPr lang="en-US" sz="1350" dirty="0"/>
          </a:p>
        </p:txBody>
      </p:sp>
      <p:sp>
        <p:nvSpPr>
          <p:cNvPr id="22" name="Text 20"/>
          <p:cNvSpPr/>
          <p:nvPr/>
        </p:nvSpPr>
        <p:spPr>
          <a:xfrm>
            <a:off x="8421624" y="2505456"/>
            <a:ext cx="3200400" cy="1920240"/>
          </a:xfrm>
          <a:prstGeom prst="rect">
            <a:avLst/>
          </a:prstGeom>
          <a:noFill/>
          <a:ln/>
        </p:spPr>
        <p:txBody>
          <a:bodyPr wrap="square" lIns="0" tIns="0" rIns="0" bIns="0" rtlCol="0" anchor="t"/>
          <a:lstStyle/>
          <a:p>
            <a:pPr algn="l" marL="127000" indent="-127000">
              <a:spcAft>
                <a:spcPts val="600"/>
              </a:spcAft>
              <a:buSzPct val="100000"/>
              <a:buChar char="•"/>
            </a:pPr>
            <a:r>
              <a:rPr lang="en-US" sz="1050" dirty="0">
                <a:solidFill>
                  <a:srgbClr val="9AA8C7"/>
                </a:solidFill>
                <a:latin typeface="Arial" pitchFamily="34" charset="0"/>
                <a:ea typeface="Arial" pitchFamily="34" charset="-122"/>
                <a:cs typeface="Arial" pitchFamily="34" charset="-120"/>
              </a:rPr>
              <a:t>Add investor network features (top-fund co-mention flags) and test whether they lift R².</a:t>
            </a:r>
            <a:endParaRPr lang="en-US" sz="1050" dirty="0"/>
          </a:p>
          <a:p>
            <a:pPr algn="l" marL="127000" indent="-127000">
              <a:spcAft>
                <a:spcPts val="600"/>
              </a:spcAft>
              <a:buSzPct val="100000"/>
              <a:buChar char="•"/>
            </a:pPr>
            <a:r>
              <a:rPr lang="en-US" sz="1050" dirty="0">
                <a:solidFill>
                  <a:srgbClr val="9AA8C7"/>
                </a:solidFill>
                <a:latin typeface="Arial" pitchFamily="34" charset="0"/>
                <a:ea typeface="Arial" pitchFamily="34" charset="-122"/>
                <a:cs typeface="Arial" pitchFamily="34" charset="-120"/>
              </a:rPr>
              <a:t>Quantile gradient boosting for prediction intervals, so VC Scout can show ranges instead of false precision.</a:t>
            </a:r>
            <a:endParaRPr lang="en-US" sz="1050" dirty="0"/>
          </a:p>
        </p:txBody>
      </p:sp>
      <p:sp>
        <p:nvSpPr>
          <p:cNvPr id="23" name="Shape 21"/>
          <p:cNvSpPr/>
          <p:nvPr/>
        </p:nvSpPr>
        <p:spPr>
          <a:xfrm>
            <a:off x="502920" y="4800600"/>
            <a:ext cx="11183112" cy="1325880"/>
          </a:xfrm>
          <a:prstGeom prst="roundRect">
            <a:avLst>
              <a:gd name="adj" fmla="val 6207"/>
            </a:avLst>
          </a:prstGeom>
          <a:solidFill>
            <a:srgbClr val="16203A"/>
          </a:solidFill>
          <a:ln w="12700">
            <a:solidFill>
              <a:srgbClr val="26395E"/>
            </a:solidFill>
            <a:prstDash val="solid"/>
          </a:ln>
        </p:spPr>
      </p:sp>
      <p:sp>
        <p:nvSpPr>
          <p:cNvPr id="24" name="Text 22"/>
          <p:cNvSpPr/>
          <p:nvPr/>
        </p:nvSpPr>
        <p:spPr>
          <a:xfrm>
            <a:off x="777240" y="4956048"/>
            <a:ext cx="10607040" cy="274320"/>
          </a:xfrm>
          <a:prstGeom prst="rect">
            <a:avLst/>
          </a:prstGeom>
          <a:noFill/>
          <a:ln/>
        </p:spPr>
        <p:txBody>
          <a:bodyPr wrap="square" lIns="0" tIns="0" rIns="0" bIns="0" rtlCol="0" anchor="ctr"/>
          <a:lstStyle/>
          <a:p>
            <a:pPr indent="0" marL="0">
              <a:buNone/>
            </a:pPr>
            <a:r>
              <a:rPr lang="en-US" sz="1300" b="1" dirty="0">
                <a:solidFill>
                  <a:srgbClr val="FF6B7A"/>
                </a:solidFill>
                <a:latin typeface="Arial" pitchFamily="34" charset="0"/>
                <a:ea typeface="Arial" pitchFamily="34" charset="-122"/>
                <a:cs typeface="Arial" pitchFamily="34" charset="-120"/>
              </a:rPr>
              <a:t>Limitations we will keep saying out loud</a:t>
            </a:r>
            <a:endParaRPr lang="en-US" sz="1300" dirty="0"/>
          </a:p>
        </p:txBody>
      </p:sp>
      <p:sp>
        <p:nvSpPr>
          <p:cNvPr id="25" name="Text 23"/>
          <p:cNvSpPr/>
          <p:nvPr/>
        </p:nvSpPr>
        <p:spPr>
          <a:xfrm>
            <a:off x="777240" y="5248656"/>
            <a:ext cx="10652760" cy="777240"/>
          </a:xfrm>
          <a:prstGeom prst="rect">
            <a:avLst/>
          </a:prstGeom>
          <a:noFill/>
          <a:ln/>
        </p:spPr>
        <p:txBody>
          <a:bodyPr wrap="square" lIns="0" tIns="0" rIns="0" bIns="0" rtlCol="0" anchor="ctr"/>
          <a:lstStyle/>
          <a:p>
            <a:pPr indent="0" marL="0">
              <a:buNone/>
            </a:pPr>
            <a:r>
              <a:rPr lang="en-US" sz="1100" dirty="0">
                <a:solidFill>
                  <a:srgbClr val="9AA8C7"/>
                </a:solidFill>
                <a:latin typeface="Arial" pitchFamily="34" charset="0"/>
                <a:ea typeface="Arial" pitchFamily="34" charset="-122"/>
                <a:cs typeface="Arial" pitchFamily="34" charset="-120"/>
              </a:rPr>
              <a:t>This model explains valuation variation among companies that already became unicorns. It cannot rate an arbitrary startup's probability of success, because failed and non-unicorn startups are absent (survivorship bias). All findings are associations conditional on unicorn status, and VC Scout will present them as scouting signals with confidence ranges, not as predictions or investment advice.</a:t>
            </a:r>
            <a:endParaRPr lang="en-US" sz="1100" dirty="0"/>
          </a:p>
        </p:txBody>
      </p:sp>
      <p:sp>
        <p:nvSpPr>
          <p:cNvPr id="26" name="Text 24"/>
          <p:cNvSpPr/>
          <p:nvPr/>
        </p:nvSpPr>
        <p:spPr>
          <a:xfrm>
            <a:off x="502920" y="6473952"/>
            <a:ext cx="8686800" cy="274320"/>
          </a:xfrm>
          <a:prstGeom prst="rect">
            <a:avLst/>
          </a:prstGeom>
          <a:noFill/>
          <a:ln/>
        </p:spPr>
        <p:txBody>
          <a:bodyPr wrap="square" lIns="0" tIns="0" rIns="0" bIns="0" rtlCol="0" anchor="ctr"/>
          <a:lstStyle/>
          <a:p>
            <a:pPr algn="l" indent="0" marL="0">
              <a:buNone/>
            </a:pPr>
            <a:r>
              <a:rPr lang="en-US" sz="900" b="1" dirty="0">
                <a:solidFill>
                  <a:srgbClr val="EAF2FF"/>
                </a:solidFill>
                <a:latin typeface="Arial" pitchFamily="34" charset="0"/>
                <a:ea typeface="Arial" pitchFamily="34" charset="-122"/>
                <a:cs typeface="Arial" pitchFamily="34" charset="-120"/>
              </a:rPr>
              <a:t>Team 17</a:t>
            </a:r>
            <a:pPr algn="l" indent="0" marL="0">
              <a:buNone/>
            </a:pPr>
            <a:r>
              <a:rPr lang="en-US" sz="900" dirty="0">
                <a:solidFill>
                  <a:srgbClr val="9AA8C7"/>
                </a:solidFill>
                <a:latin typeface="Arial" pitchFamily="34" charset="0"/>
                <a:ea typeface="Arial" pitchFamily="34" charset="-122"/>
                <a:cs typeface="Arial" pitchFamily="34" charset="-120"/>
              </a:rPr>
              <a:t>   |   Startup Growth &amp; Investment   |   Model Definition &amp; Initial Results</a:t>
            </a:r>
            <a:endParaRPr lang="en-US" sz="900" dirty="0"/>
          </a:p>
        </p:txBody>
      </p:sp>
      <p:sp>
        <p:nvSpPr>
          <p:cNvPr id="27" name="Text 25"/>
          <p:cNvSpPr/>
          <p:nvPr/>
        </p:nvSpPr>
        <p:spPr>
          <a:xfrm>
            <a:off x="11292840" y="6473952"/>
            <a:ext cx="411480" cy="274320"/>
          </a:xfrm>
          <a:prstGeom prst="rect">
            <a:avLst/>
          </a:prstGeom>
          <a:noFill/>
          <a:ln/>
        </p:spPr>
        <p:txBody>
          <a:bodyPr wrap="square" lIns="0" tIns="0" rIns="0" bIns="0" rtlCol="0" anchor="ctr"/>
          <a:lstStyle/>
          <a:p>
            <a:pPr algn="r" indent="0" marL="0">
              <a:buNone/>
            </a:pPr>
            <a:r>
              <a:rPr lang="en-US" sz="900" dirty="0">
                <a:solidFill>
                  <a:srgbClr val="9AA8C7"/>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2026-07-12T20:47:17Z</dcterms:created>
  <dcterms:modified xsi:type="dcterms:W3CDTF">2026-07-12T20:47:17Z</dcterms:modified>
</cp:coreProperties>
</file>